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embeddedFontLst>
    <p:embeddedFont>
      <p:font typeface="Crimson Pro SemiBold"/>
      <p:regular r:id="rId201314"/>
    </p:embeddedFont>
    <p:embeddedFont>
      <p:font typeface="Heebo"/>
      <p:regular r:id="rId201315"/>
    </p:embeddedFont>
    <p:embeddedFont>
      <p:font typeface="Heebo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1.png"/><Relationship Id="rId8" Type="http://schemas.openxmlformats.org/officeDocument/2006/relationships/image" Target="../media/image-6-2.svg"/><Relationship Id="rId9" Type="http://schemas.openxmlformats.org/officeDocument/2006/relationships/image" Target="../media/image-6-1.png"/><Relationship Id="rId10" Type="http://schemas.openxmlformats.org/officeDocument/2006/relationships/image" Target="../media/image-6-2.svg"/><Relationship Id="rId11" Type="http://schemas.openxmlformats.org/officeDocument/2006/relationships/image" Target="../media/image-6-11.jpe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1.png"/><Relationship Id="rId4" Type="http://schemas.openxmlformats.org/officeDocument/2006/relationships/image" Target="../media/image-12-2.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5.png"/><Relationship Id="rId8" Type="http://schemas.openxmlformats.org/officeDocument/2006/relationships/image" Target="../media/image-12-6.sv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1.png"/><Relationship Id="rId4" Type="http://schemas.openxmlformats.org/officeDocument/2006/relationships/image" Target="../media/image-14-2.svg"/><Relationship Id="rId5" Type="http://schemas.openxmlformats.org/officeDocument/2006/relationships/image" Target="../media/image-14-1.png"/><Relationship Id="rId6" Type="http://schemas.openxmlformats.org/officeDocument/2006/relationships/image" Target="../media/image-14-2.svg"/><Relationship Id="rId7" Type="http://schemas.openxmlformats.org/officeDocument/2006/relationships/image" Target="../media/image-14-1.png"/><Relationship Id="rId8" Type="http://schemas.openxmlformats.org/officeDocument/2006/relationships/image" Target="../media/image-14-2.svg"/><Relationship Id="rId9" Type="http://schemas.openxmlformats.org/officeDocument/2006/relationships/image" Target="../media/image-14-1.png"/><Relationship Id="rId10" Type="http://schemas.openxmlformats.org/officeDocument/2006/relationships/image" Target="../media/image-14-2.sv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1.png"/><Relationship Id="rId4" Type="http://schemas.openxmlformats.org/officeDocument/2006/relationships/image" Target="../media/image-16-2.svg"/><Relationship Id="rId5" Type="http://schemas.openxmlformats.org/officeDocument/2006/relationships/image" Target="../media/image-16-1.png"/><Relationship Id="rId6" Type="http://schemas.openxmlformats.org/officeDocument/2006/relationships/image" Target="../media/image-16-2.svg"/><Relationship Id="rId7" Type="http://schemas.openxmlformats.org/officeDocument/2006/relationships/image" Target="../media/image-16-1.png"/><Relationship Id="rId8" Type="http://schemas.openxmlformats.org/officeDocument/2006/relationships/image" Target="../media/image-16-2.svg"/><Relationship Id="rId9" Type="http://schemas.openxmlformats.org/officeDocument/2006/relationships/image" Target="../media/image-16-1.png"/><Relationship Id="rId10" Type="http://schemas.openxmlformats.org/officeDocument/2006/relationships/image" Target="../media/image-16-2.svg"/><Relationship Id="rId11" Type="http://schemas.openxmlformats.org/officeDocument/2006/relationships/image" Target="../media/image-16-1.png"/><Relationship Id="rId12" Type="http://schemas.openxmlformats.org/officeDocument/2006/relationships/image" Target="../media/image-16-2.svg"/><Relationship Id="rId13" Type="http://schemas.openxmlformats.org/officeDocument/2006/relationships/image" Target="../media/image-16-1.png"/><Relationship Id="rId14" Type="http://schemas.openxmlformats.org/officeDocument/2006/relationships/image" Target="../media/image-16-2.svg"/><Relationship Id="rId15" Type="http://schemas.openxmlformats.org/officeDocument/2006/relationships/image" Target="../media/image-16-1.png"/><Relationship Id="rId16" Type="http://schemas.openxmlformats.org/officeDocument/2006/relationships/image" Target="../media/image-16-2.svg"/><Relationship Id="rId17" Type="http://schemas.openxmlformats.org/officeDocument/2006/relationships/slideLayout" Target="../slideLayouts/slideLayout1.xml"/><Relationship Id="rId1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1619746"/>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Four Months' Notice</a:t>
            </a:r>
            <a:endParaRPr lang="en-US" sz="3700" dirty="0"/>
          </a:p>
        </p:txBody>
      </p:sp>
      <p:sp>
        <p:nvSpPr>
          <p:cNvPr id="3" name="Text 1"/>
          <p:cNvSpPr/>
          <p:nvPr/>
        </p:nvSpPr>
        <p:spPr>
          <a:xfrm>
            <a:off x="661475" y="2588419"/>
            <a:ext cx="10868745" cy="1634927"/>
          </a:xfrm>
          <a:prstGeom prst="rect">
            <a:avLst/>
          </a:prstGeom>
          <a:noFill/>
          <a:ln/>
        </p:spPr>
        <p:txBody>
          <a:bodyPr wrap="square" lIns="0" tIns="0" rIns="0" bIns="0" rtlCol="0" anchor="t"/>
          <a:lstStyle/>
          <a:p>
            <a:pPr algn="l" indent="0" marL="0">
              <a:lnSpc>
                <a:spcPct val="133000"/>
              </a:lnSpc>
              <a:spcAft>
                <a:spcPts val="1650"/>
              </a:spcAft>
              <a:buNone/>
            </a:pPr>
            <a:r>
              <a:rPr lang="en-US" sz="1450" dirty="0">
                <a:solidFill>
                  <a:srgbClr val="4C4C4D"/>
                </a:solidFill>
                <a:latin typeface="Heebo" pitchFamily="34" charset="0"/>
                <a:ea typeface="Heebo" pitchFamily="34" charset="-122"/>
                <a:cs typeface="Heebo" pitchFamily="34" charset="-120"/>
              </a:rPr>
              <a:t>Turning El Niño into a dengue early-warning alarm for ASEAN</a:t>
            </a:r>
            <a:endParaRPr lang="en-US" sz="1450" dirty="0"/>
          </a:p>
          <a:p>
            <a:pPr algn="l" indent="0" marL="0">
              <a:lnSpc>
                <a:spcPct val="133000"/>
              </a:lnSpc>
              <a:spcAft>
                <a:spcPts val="1650"/>
              </a:spcAft>
              <a:buNone/>
            </a:pPr>
            <a:r>
              <a:rPr lang="en-US" sz="1450" dirty="0">
                <a:solidFill>
                  <a:srgbClr val="4C4C4D"/>
                </a:solidFill>
                <a:latin typeface="Heebo" pitchFamily="34" charset="0"/>
                <a:ea typeface="Heebo" pitchFamily="34" charset="-122"/>
                <a:cs typeface="Heebo" pitchFamily="34" charset="-120"/>
              </a:rPr>
              <a:t>A freely available climate index gives ASEAN health offices months of warning before a dengue season turns severe. We turn that lag into a two-condition alert rule that any provincial health office can run today, with no model, no code and no paid data.</a:t>
            </a:r>
            <a:endParaRPr lang="en-US" sz="1450" dirty="0"/>
          </a:p>
          <a:p>
            <a:pPr algn="l" indent="0" marL="0">
              <a:lnSpc>
                <a:spcPct val="133000"/>
              </a:lnSpc>
              <a:buNone/>
            </a:pPr>
            <a:r>
              <a:rPr lang="en-US" sz="1450" dirty="0">
                <a:solidFill>
                  <a:srgbClr val="4C4C4D"/>
                </a:solidFill>
                <a:latin typeface="Heebo" pitchFamily="34" charset="0"/>
                <a:ea typeface="Heebo" pitchFamily="34" charset="-122"/>
                <a:cs typeface="Heebo" pitchFamily="34" charset="-120"/>
              </a:rPr>
              <a:t>Team Swallowgank · Institut Teknologi Sepuluh Nopember · Indonesia</a:t>
            </a:r>
            <a:endParaRPr lang="en-US" sz="1450" dirty="0"/>
          </a:p>
        </p:txBody>
      </p:sp>
      <p:sp>
        <p:nvSpPr>
          <p:cNvPr id="4" name="Shape 2"/>
          <p:cNvSpPr/>
          <p:nvPr/>
        </p:nvSpPr>
        <p:spPr>
          <a:xfrm>
            <a:off x="661475" y="4435971"/>
            <a:ext cx="1234746" cy="287139"/>
          </a:xfrm>
          <a:prstGeom prst="roundRect">
            <a:avLst>
              <a:gd name="adj" fmla="val 7899"/>
            </a:avLst>
          </a:prstGeom>
          <a:solidFill>
            <a:srgbClr val="CCD7FF"/>
          </a:solidFill>
          <a:ln/>
        </p:spPr>
      </p:sp>
      <p:sp>
        <p:nvSpPr>
          <p:cNvPr id="5" name="Text 3"/>
          <p:cNvSpPr/>
          <p:nvPr/>
        </p:nvSpPr>
        <p:spPr>
          <a:xfrm>
            <a:off x="774879" y="4492625"/>
            <a:ext cx="1617523" cy="173831"/>
          </a:xfrm>
          <a:prstGeom prst="rect">
            <a:avLst/>
          </a:prstGeom>
          <a:noFill/>
          <a:ln/>
        </p:spPr>
        <p:txBody>
          <a:bodyPr wrap="none" lIns="0" tIns="0" rIns="0" bIns="0" rtlCol="0" anchor="t"/>
          <a:lstStyle/>
          <a:p>
            <a:pPr algn="l" indent="0" marL="0">
              <a:lnSpc>
                <a:spcPct val="96000"/>
              </a:lnSpc>
              <a:buNone/>
            </a:pPr>
            <a:r>
              <a:rPr lang="en-US" sz="1150" dirty="0">
                <a:solidFill>
                  <a:srgbClr val="4C4C4D"/>
                </a:solidFill>
                <a:latin typeface="Heebo" pitchFamily="34" charset="0"/>
                <a:ea typeface="Heebo" pitchFamily="34" charset="-122"/>
                <a:cs typeface="Heebo" pitchFamily="34" charset="-120"/>
              </a:rPr>
              <a:t>SDG 3 HEALTH</a:t>
            </a:r>
            <a:endParaRPr lang="en-US" sz="1150" dirty="0"/>
          </a:p>
        </p:txBody>
      </p:sp>
      <p:sp>
        <p:nvSpPr>
          <p:cNvPr id="6" name="Shape 4"/>
          <p:cNvSpPr/>
          <p:nvPr/>
        </p:nvSpPr>
        <p:spPr>
          <a:xfrm>
            <a:off x="1990675" y="4435971"/>
            <a:ext cx="1382182" cy="287139"/>
          </a:xfrm>
          <a:prstGeom prst="roundRect">
            <a:avLst>
              <a:gd name="adj" fmla="val 7899"/>
            </a:avLst>
          </a:prstGeom>
          <a:solidFill>
            <a:srgbClr val="CCD7FF"/>
          </a:solidFill>
          <a:ln/>
        </p:spPr>
      </p:sp>
      <p:sp>
        <p:nvSpPr>
          <p:cNvPr id="7" name="Text 5"/>
          <p:cNvSpPr/>
          <p:nvPr/>
        </p:nvSpPr>
        <p:spPr>
          <a:xfrm>
            <a:off x="2104079" y="4492625"/>
            <a:ext cx="1764958" cy="173831"/>
          </a:xfrm>
          <a:prstGeom prst="rect">
            <a:avLst/>
          </a:prstGeom>
          <a:noFill/>
          <a:ln/>
        </p:spPr>
        <p:txBody>
          <a:bodyPr wrap="none" lIns="0" tIns="0" rIns="0" bIns="0" rtlCol="0" anchor="t"/>
          <a:lstStyle/>
          <a:p>
            <a:pPr algn="l" indent="0" marL="0">
              <a:lnSpc>
                <a:spcPct val="96000"/>
              </a:lnSpc>
              <a:buNone/>
            </a:pPr>
            <a:r>
              <a:rPr lang="en-US" sz="1150" dirty="0">
                <a:solidFill>
                  <a:srgbClr val="4C4C4D"/>
                </a:solidFill>
                <a:latin typeface="Heebo" pitchFamily="34" charset="0"/>
                <a:ea typeface="Heebo" pitchFamily="34" charset="-122"/>
                <a:cs typeface="Heebo" pitchFamily="34" charset="-120"/>
              </a:rPr>
              <a:t>SDG 13 CLIMATE</a:t>
            </a:r>
            <a:endParaRPr lang="en-US" sz="1150" dirty="0"/>
          </a:p>
        </p:txBody>
      </p:sp>
      <p:sp>
        <p:nvSpPr>
          <p:cNvPr id="8" name="Shape 6"/>
          <p:cNvSpPr/>
          <p:nvPr/>
        </p:nvSpPr>
        <p:spPr>
          <a:xfrm>
            <a:off x="3467311" y="4435971"/>
            <a:ext cx="1168272" cy="287139"/>
          </a:xfrm>
          <a:prstGeom prst="roundRect">
            <a:avLst>
              <a:gd name="adj" fmla="val 7899"/>
            </a:avLst>
          </a:prstGeom>
          <a:solidFill>
            <a:srgbClr val="CCD7FF"/>
          </a:solidFill>
          <a:ln/>
        </p:spPr>
      </p:sp>
      <p:sp>
        <p:nvSpPr>
          <p:cNvPr id="9" name="Text 7"/>
          <p:cNvSpPr/>
          <p:nvPr/>
        </p:nvSpPr>
        <p:spPr>
          <a:xfrm>
            <a:off x="3580715" y="4492625"/>
            <a:ext cx="1551048" cy="173831"/>
          </a:xfrm>
          <a:prstGeom prst="rect">
            <a:avLst/>
          </a:prstGeom>
          <a:noFill/>
          <a:ln/>
        </p:spPr>
        <p:txBody>
          <a:bodyPr wrap="none" lIns="0" tIns="0" rIns="0" bIns="0" rtlCol="0" anchor="t"/>
          <a:lstStyle/>
          <a:p>
            <a:pPr algn="l" indent="0" marL="0">
              <a:lnSpc>
                <a:spcPct val="96000"/>
              </a:lnSpc>
              <a:buNone/>
            </a:pPr>
            <a:r>
              <a:rPr lang="en-US" sz="1150" dirty="0">
                <a:solidFill>
                  <a:srgbClr val="4C4C4D"/>
                </a:solidFill>
                <a:latin typeface="Heebo" pitchFamily="34" charset="0"/>
                <a:ea typeface="Heebo" pitchFamily="34" charset="-122"/>
                <a:cs typeface="Heebo" pitchFamily="34" charset="-120"/>
              </a:rPr>
              <a:t>SDG 6 WATER</a:t>
            </a:r>
            <a:endParaRPr lang="en-US" sz="1150" dirty="0"/>
          </a:p>
        </p:txBody>
      </p:sp>
      <p:sp>
        <p:nvSpPr>
          <p:cNvPr id="10" name="Text 8"/>
          <p:cNvSpPr/>
          <p:nvPr/>
        </p:nvSpPr>
        <p:spPr>
          <a:xfrm>
            <a:off x="661475" y="4935736"/>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4C4C4D"/>
                </a:solidFill>
                <a:latin typeface="Heebo" pitchFamily="34" charset="0"/>
                <a:ea typeface="Heebo" pitchFamily="34" charset="-122"/>
                <a:cs typeface="Heebo" pitchFamily="34" charset="-120"/>
              </a:rPr>
              <a:t>All charts built in SAP Analytics Cloud.</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82811"/>
            <a:ext cx="10868745" cy="257969"/>
          </a:xfrm>
          <a:prstGeom prst="rect">
            <a:avLst/>
          </a:prstGeom>
          <a:noFill/>
          <a:ln/>
        </p:spPr>
        <p:txBody>
          <a:bodyPr wrap="none" lIns="0" tIns="0" rIns="0" bIns="0" rtlCol="0" anchor="t"/>
          <a:lstStyle/>
          <a:p>
            <a:pPr algn="l" indent="0" marL="0">
              <a:lnSpc>
                <a:spcPct val="104000"/>
              </a:lnSpc>
              <a:buNone/>
            </a:pPr>
            <a:r>
              <a:rPr lang="en-US" sz="1600" dirty="0">
                <a:solidFill>
                  <a:srgbClr val="152D47"/>
                </a:solidFill>
                <a:latin typeface="Crimson Pro SemiBold" pitchFamily="34" charset="0"/>
                <a:ea typeface="Crimson Pro SemiBold" pitchFamily="34" charset="-122"/>
                <a:cs typeface="Crimson Pro SemiBold" pitchFamily="34" charset="-120"/>
              </a:rPr>
              <a:t>The problem: Dengue is ASEAN's fastest-moving climate-sensitive disease</a:t>
            </a:r>
            <a:endParaRPr lang="en-US" sz="1600" dirty="0"/>
          </a:p>
        </p:txBody>
      </p:sp>
      <p:sp>
        <p:nvSpPr>
          <p:cNvPr id="3" name="Text 1"/>
          <p:cNvSpPr/>
          <p:nvPr/>
        </p:nvSpPr>
        <p:spPr>
          <a:xfrm>
            <a:off x="1608593" y="954088"/>
            <a:ext cx="3517614" cy="272455"/>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1.26M</a:t>
            </a:r>
            <a:endParaRPr lang="en-US" sz="2100" dirty="0"/>
          </a:p>
        </p:txBody>
      </p:sp>
      <p:sp>
        <p:nvSpPr>
          <p:cNvPr id="4" name="Text 2"/>
          <p:cNvSpPr/>
          <p:nvPr/>
        </p:nvSpPr>
        <p:spPr>
          <a:xfrm>
            <a:off x="661475" y="1294805"/>
            <a:ext cx="5411851" cy="128984"/>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Cases in 2019</a:t>
            </a:r>
            <a:endParaRPr lang="en-US" sz="800" dirty="0"/>
          </a:p>
        </p:txBody>
      </p:sp>
      <p:sp>
        <p:nvSpPr>
          <p:cNvPr id="5" name="Text 3"/>
          <p:cNvSpPr/>
          <p:nvPr/>
        </p:nvSpPr>
        <p:spPr>
          <a:xfrm>
            <a:off x="661475" y="1445419"/>
            <a:ext cx="5411851"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The worst year in our nine-country panel</a:t>
            </a:r>
            <a:endParaRPr lang="en-US" sz="600" dirty="0"/>
          </a:p>
        </p:txBody>
      </p:sp>
      <p:sp>
        <p:nvSpPr>
          <p:cNvPr id="6" name="Text 4"/>
          <p:cNvSpPr/>
          <p:nvPr/>
        </p:nvSpPr>
        <p:spPr>
          <a:xfrm>
            <a:off x="7065488" y="954088"/>
            <a:ext cx="3517614" cy="272455"/>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368k</a:t>
            </a:r>
            <a:endParaRPr lang="en-US" sz="2100" dirty="0"/>
          </a:p>
        </p:txBody>
      </p:sp>
      <p:sp>
        <p:nvSpPr>
          <p:cNvPr id="7" name="Text 5"/>
          <p:cNvSpPr/>
          <p:nvPr/>
        </p:nvSpPr>
        <p:spPr>
          <a:xfrm>
            <a:off x="6118370" y="1294805"/>
            <a:ext cx="5411851" cy="128984"/>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Vietnam</a:t>
            </a:r>
            <a:endParaRPr lang="en-US" sz="800" dirty="0"/>
          </a:p>
        </p:txBody>
      </p:sp>
      <p:sp>
        <p:nvSpPr>
          <p:cNvPr id="8" name="Text 6"/>
          <p:cNvSpPr/>
          <p:nvPr/>
        </p:nvSpPr>
        <p:spPr>
          <a:xfrm>
            <a:off x="6118370" y="1445419"/>
            <a:ext cx="5411851"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Latest complete year</a:t>
            </a:r>
            <a:endParaRPr lang="en-US" sz="600" dirty="0"/>
          </a:p>
        </p:txBody>
      </p:sp>
      <p:sp>
        <p:nvSpPr>
          <p:cNvPr id="9" name="Text 7"/>
          <p:cNvSpPr/>
          <p:nvPr/>
        </p:nvSpPr>
        <p:spPr>
          <a:xfrm>
            <a:off x="1608593" y="1653580"/>
            <a:ext cx="3517614" cy="272455"/>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220k</a:t>
            </a:r>
            <a:endParaRPr lang="en-US" sz="2100" dirty="0"/>
          </a:p>
        </p:txBody>
      </p:sp>
      <p:sp>
        <p:nvSpPr>
          <p:cNvPr id="10" name="Text 8"/>
          <p:cNvSpPr/>
          <p:nvPr/>
        </p:nvSpPr>
        <p:spPr>
          <a:xfrm>
            <a:off x="661475" y="1994297"/>
            <a:ext cx="5411851" cy="128984"/>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Philippines</a:t>
            </a:r>
            <a:endParaRPr lang="en-US" sz="800" dirty="0"/>
          </a:p>
        </p:txBody>
      </p:sp>
      <p:sp>
        <p:nvSpPr>
          <p:cNvPr id="11" name="Text 9"/>
          <p:cNvSpPr/>
          <p:nvPr/>
        </p:nvSpPr>
        <p:spPr>
          <a:xfrm>
            <a:off x="661475" y="2144911"/>
            <a:ext cx="5411851"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Latest complete year</a:t>
            </a:r>
            <a:endParaRPr lang="en-US" sz="600" dirty="0"/>
          </a:p>
        </p:txBody>
      </p:sp>
      <p:sp>
        <p:nvSpPr>
          <p:cNvPr id="12" name="Text 10"/>
          <p:cNvSpPr/>
          <p:nvPr/>
        </p:nvSpPr>
        <p:spPr>
          <a:xfrm>
            <a:off x="7065488" y="1653580"/>
            <a:ext cx="3517614" cy="272455"/>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9.6M</a:t>
            </a:r>
            <a:endParaRPr lang="en-US" sz="2100" dirty="0"/>
          </a:p>
        </p:txBody>
      </p:sp>
      <p:sp>
        <p:nvSpPr>
          <p:cNvPr id="13" name="Text 11"/>
          <p:cNvSpPr/>
          <p:nvPr/>
        </p:nvSpPr>
        <p:spPr>
          <a:xfrm>
            <a:off x="6118370" y="1994297"/>
            <a:ext cx="5411851" cy="128984"/>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Added cases worldwide</a:t>
            </a:r>
            <a:endParaRPr lang="en-US" sz="800" dirty="0"/>
          </a:p>
        </p:txBody>
      </p:sp>
      <p:sp>
        <p:nvSpPr>
          <p:cNvPr id="14" name="Text 12"/>
          <p:cNvSpPr/>
          <p:nvPr/>
        </p:nvSpPr>
        <p:spPr>
          <a:xfrm>
            <a:off x="6118370" y="2144911"/>
            <a:ext cx="5411851" cy="94853"/>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Estimated from the 2023–24 El Niño (Tian et al., 2025)</a:t>
            </a:r>
            <a:endParaRPr lang="en-US" sz="600" dirty="0"/>
          </a:p>
        </p:txBody>
      </p:sp>
      <p:sp>
        <p:nvSpPr>
          <p:cNvPr id="15" name="Text 13"/>
          <p:cNvSpPr/>
          <p:nvPr/>
        </p:nvSpPr>
        <p:spPr>
          <a:xfrm>
            <a:off x="661475" y="2280245"/>
            <a:ext cx="11478330" cy="94853"/>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Outbreaks are still fought reactively, only once cases surge.</a:t>
            </a:r>
            <a:endParaRPr lang="en-US" sz="600" dirty="0"/>
          </a:p>
        </p:txBody>
      </p:sp>
      <p:sp>
        <p:nvSpPr>
          <p:cNvPr id="16" name="Text 14"/>
          <p:cNvSpPr/>
          <p:nvPr/>
        </p:nvSpPr>
        <p:spPr>
          <a:xfrm>
            <a:off x="661475" y="2451596"/>
            <a:ext cx="6994152" cy="128984"/>
          </a:xfrm>
          <a:prstGeom prst="rect">
            <a:avLst/>
          </a:prstGeom>
          <a:noFill/>
          <a:ln/>
        </p:spPr>
        <p:txBody>
          <a:bodyPr wrap="none" lIns="0" tIns="0" rIns="0" bIns="0" rtlCol="0" anchor="t"/>
          <a:lstStyle/>
          <a:p>
            <a:pPr algn="l" indent="0" marL="0">
              <a:lnSpc>
                <a:spcPct val="104000"/>
              </a:lnSpc>
              <a:buNone/>
            </a:pPr>
            <a:r>
              <a:rPr lang="en-US" sz="800" dirty="0">
                <a:solidFill>
                  <a:srgbClr val="152D47"/>
                </a:solidFill>
                <a:latin typeface="Crimson Pro SemiBold" pitchFamily="34" charset="0"/>
                <a:ea typeface="Crimson Pro SemiBold" pitchFamily="34" charset="-122"/>
                <a:cs typeface="Crimson Pro SemiBold" pitchFamily="34" charset="-120"/>
              </a:rPr>
              <a:t>ASEAN dengue cases, 2000–2024</a:t>
            </a:r>
            <a:endParaRPr lang="en-US" sz="800" dirty="0"/>
          </a:p>
        </p:txBody>
      </p:sp>
      <p:pic>
        <p:nvPicPr>
          <p:cNvPr id="17" name="Image 0" descr="preencoded.png">    </p:cNvPr>
          <p:cNvPicPr>
            <a:picLocks noChangeAspect="1"/>
          </p:cNvPicPr>
          <p:nvPr/>
        </p:nvPicPr>
        <p:blipFill>
          <a:blip r:embed="rId1"/>
          <a:stretch>
            <a:fillRect/>
          </a:stretch>
        </p:blipFill>
        <p:spPr>
          <a:xfrm>
            <a:off x="2303405" y="2621062"/>
            <a:ext cx="3710192" cy="3342878"/>
          </a:xfrm>
          <a:prstGeom prst="rect">
            <a:avLst/>
          </a:prstGeom>
        </p:spPr>
      </p:pic>
      <p:sp>
        <p:nvSpPr>
          <p:cNvPr id="18" name="Text 15"/>
          <p:cNvSpPr/>
          <p:nvPr/>
        </p:nvSpPr>
        <p:spPr>
          <a:xfrm>
            <a:off x="7863385" y="3016448"/>
            <a:ext cx="3673085" cy="128984"/>
          </a:xfrm>
          <a:prstGeom prst="rect">
            <a:avLst/>
          </a:prstGeom>
          <a:noFill/>
          <a:ln/>
        </p:spPr>
        <p:txBody>
          <a:bodyPr wrap="none" lIns="0" tIns="0" rIns="0" bIns="0" rtlCol="0" anchor="t"/>
          <a:lstStyle/>
          <a:p>
            <a:pPr algn="l" indent="0" marL="0">
              <a:lnSpc>
                <a:spcPct val="104000"/>
              </a:lnSpc>
              <a:buNone/>
            </a:pPr>
            <a:r>
              <a:rPr lang="en-US" sz="800" dirty="0">
                <a:solidFill>
                  <a:srgbClr val="152D47"/>
                </a:solidFill>
                <a:latin typeface="Crimson Pro SemiBold" pitchFamily="34" charset="0"/>
                <a:ea typeface="Crimson Pro SemiBold" pitchFamily="34" charset="-122"/>
                <a:cs typeface="Crimson Pro SemiBold" pitchFamily="34" charset="-120"/>
              </a:rPr>
              <a:t>Cases by country, latest complete year</a:t>
            </a:r>
            <a:endParaRPr lang="en-US" sz="800" dirty="0"/>
          </a:p>
        </p:txBody>
      </p:sp>
      <p:pic>
        <p:nvPicPr>
          <p:cNvPr id="19" name="Image 1" descr="preencoded.png">    </p:cNvPr>
          <p:cNvPicPr>
            <a:picLocks noChangeAspect="1"/>
          </p:cNvPicPr>
          <p:nvPr/>
        </p:nvPicPr>
        <p:blipFill>
          <a:blip r:embed="rId2"/>
          <a:stretch>
            <a:fillRect/>
          </a:stretch>
        </p:blipFill>
        <p:spPr>
          <a:xfrm>
            <a:off x="8506208" y="3185914"/>
            <a:ext cx="2387441" cy="2213173"/>
          </a:xfrm>
          <a:prstGeom prst="rect">
            <a:avLst/>
          </a:prstGeom>
        </p:spPr>
      </p:pic>
      <p:sp>
        <p:nvSpPr>
          <p:cNvPr id="20" name="Text 16"/>
          <p:cNvSpPr/>
          <p:nvPr/>
        </p:nvSpPr>
        <p:spPr>
          <a:xfrm>
            <a:off x="661475" y="6044902"/>
            <a:ext cx="10868745" cy="230187"/>
          </a:xfrm>
          <a:prstGeom prst="rect">
            <a:avLst/>
          </a:prstGeom>
          <a:noFill/>
          <a:ln/>
        </p:spPr>
        <p:txBody>
          <a:bodyPr wrap="square" lIns="0" tIns="0" rIns="0" bIns="0" rtlCol="0" anchor="t"/>
          <a:lstStyle/>
          <a:p>
            <a:pPr algn="l" indent="0" marL="0">
              <a:lnSpc>
                <a:spcPct val="96000"/>
              </a:lnSpc>
              <a:spcAft>
                <a:spcPts val="300"/>
              </a:spcAft>
              <a:buNone/>
            </a:pPr>
            <a:r>
              <a:rPr lang="en-US" sz="600" dirty="0">
                <a:solidFill>
                  <a:srgbClr val="4C4C4D"/>
                </a:solidFill>
                <a:latin typeface="Heebo" pitchFamily="34" charset="0"/>
                <a:ea typeface="Heebo" pitchFamily="34" charset="-122"/>
                <a:cs typeface="Heebo" pitchFamily="34" charset="-120"/>
              </a:rPr>
              <a:t>The burden is large, rising and spiky. Spikes are what an alarm can catch; a trend line is not something a health office can act on.</a:t>
            </a:r>
            <a:endParaRPr lang="en-US" sz="600" dirty="0"/>
          </a:p>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Source: OpenDengue V1.3, national totals, complete-reporting years only. We do not claim a 2023–24 record, because our panel is incomplete for Vietnam and the Philippines after 2022.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682923"/>
            <a:ext cx="10868745" cy="383977"/>
          </a:xfrm>
          <a:prstGeom prst="rect">
            <a:avLst/>
          </a:prstGeom>
          <a:noFill/>
          <a:ln/>
        </p:spPr>
        <p:txBody>
          <a:bodyPr wrap="none" lIns="0" tIns="0" rIns="0" bIns="0" rtlCol="0" anchor="t"/>
          <a:lstStyle/>
          <a:p>
            <a:pPr algn="l" indent="0" marL="0">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The question: Climate data arrives months before patients do</a:t>
            </a:r>
            <a:endParaRPr lang="en-US" sz="2400" dirty="0"/>
          </a:p>
        </p:txBody>
      </p:sp>
      <p:sp>
        <p:nvSpPr>
          <p:cNvPr id="3" name="Text 1"/>
          <p:cNvSpPr/>
          <p:nvPr/>
        </p:nvSpPr>
        <p:spPr>
          <a:xfrm>
            <a:off x="845719" y="1316335"/>
            <a:ext cx="11294085" cy="1621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"Can a freely available climate index tell a health office how bad the coming season will be, early enough to act?"</a:t>
            </a:r>
            <a:endParaRPr lang="en-US" sz="950" dirty="0"/>
          </a:p>
        </p:txBody>
      </p:sp>
      <p:sp>
        <p:nvSpPr>
          <p:cNvPr id="4" name="Shape 2"/>
          <p:cNvSpPr/>
          <p:nvPr/>
        </p:nvSpPr>
        <p:spPr>
          <a:xfrm>
            <a:off x="661475" y="1226542"/>
            <a:ext cx="12700" cy="341709"/>
          </a:xfrm>
          <a:prstGeom prst="roundRect">
            <a:avLst>
              <a:gd name="adj" fmla="val 49999"/>
            </a:avLst>
          </a:prstGeom>
          <a:solidFill>
            <a:srgbClr val="2150FE"/>
          </a:solidFill>
          <a:ln/>
        </p:spPr>
      </p:sp>
      <p:sp>
        <p:nvSpPr>
          <p:cNvPr id="5" name="Shape 3"/>
          <p:cNvSpPr/>
          <p:nvPr/>
        </p:nvSpPr>
        <p:spPr>
          <a:xfrm>
            <a:off x="661475" y="1658045"/>
            <a:ext cx="3569702" cy="835124"/>
          </a:xfrm>
          <a:prstGeom prst="roundRect">
            <a:avLst>
              <a:gd name="adj" fmla="val 2207"/>
            </a:avLst>
          </a:prstGeom>
          <a:solidFill>
            <a:srgbClr val="FFFFFF"/>
          </a:solidFill>
          <a:ln w="12700">
            <a:solidFill>
              <a:srgbClr val="D8D4D4"/>
            </a:solidFill>
            <a:prstDash val="solid"/>
          </a:ln>
        </p:spPr>
      </p:sp>
      <p:sp>
        <p:nvSpPr>
          <p:cNvPr id="6" name="Text 4"/>
          <p:cNvSpPr/>
          <p:nvPr/>
        </p:nvSpPr>
        <p:spPr>
          <a:xfrm>
            <a:off x="797004" y="1793577"/>
            <a:ext cx="3298643" cy="191988"/>
          </a:xfrm>
          <a:prstGeom prst="rect">
            <a:avLst/>
          </a:prstGeom>
          <a:noFill/>
          <a:ln/>
        </p:spPr>
        <p:txBody>
          <a:bodyPr wrap="none" lIns="0" tIns="0" rIns="0" bIns="0" rtlCol="0" anchor="t"/>
          <a:lstStyle/>
          <a:p>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SDG Target 3.3</a:t>
            </a:r>
            <a:endParaRPr lang="en-US" sz="1200" dirty="0"/>
          </a:p>
        </p:txBody>
      </p:sp>
      <p:sp>
        <p:nvSpPr>
          <p:cNvPr id="7" name="Text 5"/>
          <p:cNvSpPr/>
          <p:nvPr/>
        </p:nvSpPr>
        <p:spPr>
          <a:xfrm>
            <a:off x="797004" y="2033389"/>
            <a:ext cx="3298643" cy="324247"/>
          </a:xfrm>
          <a:prstGeom prst="rect">
            <a:avLst/>
          </a:prstGeom>
          <a:noFill/>
          <a:ln/>
        </p:spPr>
        <p:txBody>
          <a:bodyPr wrap="square" lIns="0" tIns="0" rIns="0" bIns="0" rtlCol="0" anchor="t">
            <a:normAutofit/>
          </a:bodyPr>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End the epidemics of neglected tropical diseases, of which dengue is one</a:t>
            </a:r>
            <a:endParaRPr lang="en-US" sz="950" dirty="0"/>
          </a:p>
        </p:txBody>
      </p:sp>
      <p:sp>
        <p:nvSpPr>
          <p:cNvPr id="8" name="Shape 6"/>
          <p:cNvSpPr/>
          <p:nvPr/>
        </p:nvSpPr>
        <p:spPr>
          <a:xfrm>
            <a:off x="4310947" y="1658045"/>
            <a:ext cx="3569702" cy="835124"/>
          </a:xfrm>
          <a:prstGeom prst="roundRect">
            <a:avLst>
              <a:gd name="adj" fmla="val 2207"/>
            </a:avLst>
          </a:prstGeom>
          <a:solidFill>
            <a:srgbClr val="FFFFFF"/>
          </a:solidFill>
          <a:ln w="12700">
            <a:solidFill>
              <a:srgbClr val="D8D4D4"/>
            </a:solidFill>
            <a:prstDash val="solid"/>
          </a:ln>
        </p:spPr>
      </p:sp>
      <p:sp>
        <p:nvSpPr>
          <p:cNvPr id="9" name="Text 7"/>
          <p:cNvSpPr/>
          <p:nvPr/>
        </p:nvSpPr>
        <p:spPr>
          <a:xfrm>
            <a:off x="4446476" y="1793577"/>
            <a:ext cx="3298643" cy="191988"/>
          </a:xfrm>
          <a:prstGeom prst="rect">
            <a:avLst/>
          </a:prstGeom>
          <a:noFill/>
          <a:ln/>
        </p:spPr>
        <p:txBody>
          <a:bodyPr wrap="none" lIns="0" tIns="0" rIns="0" bIns="0" rtlCol="0" anchor="t"/>
          <a:lstStyle/>
          <a:p>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SDG Target 13.1</a:t>
            </a:r>
            <a:endParaRPr lang="en-US" sz="1200" dirty="0"/>
          </a:p>
        </p:txBody>
      </p:sp>
      <p:sp>
        <p:nvSpPr>
          <p:cNvPr id="10" name="Text 8"/>
          <p:cNvSpPr/>
          <p:nvPr/>
        </p:nvSpPr>
        <p:spPr>
          <a:xfrm>
            <a:off x="4446476" y="2033389"/>
            <a:ext cx="3298643" cy="324247"/>
          </a:xfrm>
          <a:prstGeom prst="rect">
            <a:avLst/>
          </a:prstGeom>
          <a:noFill/>
          <a:ln/>
        </p:spPr>
        <p:txBody>
          <a:bodyPr wrap="square" lIns="0" tIns="0" rIns="0" bIns="0" rtlCol="0" anchor="t">
            <a:normAutofit/>
          </a:bodyPr>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Strengthen resilience and adaptive capacity to climate-related hazards</a:t>
            </a:r>
            <a:endParaRPr lang="en-US" sz="950" dirty="0"/>
          </a:p>
        </p:txBody>
      </p:sp>
      <p:sp>
        <p:nvSpPr>
          <p:cNvPr id="11" name="Shape 9"/>
          <p:cNvSpPr/>
          <p:nvPr/>
        </p:nvSpPr>
        <p:spPr>
          <a:xfrm>
            <a:off x="7960419" y="1658045"/>
            <a:ext cx="3569801" cy="835124"/>
          </a:xfrm>
          <a:prstGeom prst="roundRect">
            <a:avLst>
              <a:gd name="adj" fmla="val 2207"/>
            </a:avLst>
          </a:prstGeom>
          <a:solidFill>
            <a:srgbClr val="FFFFFF"/>
          </a:solidFill>
          <a:ln w="12700">
            <a:solidFill>
              <a:srgbClr val="D8D4D4"/>
            </a:solidFill>
            <a:prstDash val="solid"/>
          </a:ln>
        </p:spPr>
      </p:sp>
      <p:sp>
        <p:nvSpPr>
          <p:cNvPr id="12" name="Text 10"/>
          <p:cNvSpPr/>
          <p:nvPr/>
        </p:nvSpPr>
        <p:spPr>
          <a:xfrm>
            <a:off x="8095948" y="1793577"/>
            <a:ext cx="3298742" cy="191988"/>
          </a:xfrm>
          <a:prstGeom prst="rect">
            <a:avLst/>
          </a:prstGeom>
          <a:noFill/>
          <a:ln/>
        </p:spPr>
        <p:txBody>
          <a:bodyPr wrap="none" lIns="0" tIns="0" rIns="0" bIns="0" rtlCol="0" anchor="t"/>
          <a:lstStyle/>
          <a:p>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SDG Target 6.1</a:t>
            </a:r>
            <a:endParaRPr lang="en-US" sz="1200" dirty="0"/>
          </a:p>
        </p:txBody>
      </p:sp>
      <p:sp>
        <p:nvSpPr>
          <p:cNvPr id="13" name="Text 11"/>
          <p:cNvSpPr/>
          <p:nvPr/>
        </p:nvSpPr>
        <p:spPr>
          <a:xfrm>
            <a:off x="8095948" y="2033389"/>
            <a:ext cx="3298742" cy="324247"/>
          </a:xfrm>
          <a:prstGeom prst="rect">
            <a:avLst/>
          </a:prstGeom>
          <a:noFill/>
          <a:ln/>
        </p:spPr>
        <p:txBody>
          <a:bodyPr wrap="square" lIns="0" tIns="0" rIns="0" bIns="0" rtlCol="0" anchor="t">
            <a:normAutofit/>
          </a:bodyPr>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Safe water for all. Where piped water is absent, households store it, and Aedes breeds in the store</a:t>
            </a:r>
            <a:endParaRPr lang="en-US" sz="950" dirty="0"/>
          </a:p>
        </p:txBody>
      </p:sp>
      <p:sp>
        <p:nvSpPr>
          <p:cNvPr id="14" name="Text 12"/>
          <p:cNvSpPr/>
          <p:nvPr/>
        </p:nvSpPr>
        <p:spPr>
          <a:xfrm>
            <a:off x="661475" y="2582962"/>
            <a:ext cx="10868745" cy="324247"/>
          </a:xfrm>
          <a:prstGeom prst="rect">
            <a:avLst/>
          </a:prstGeom>
          <a:noFill/>
          <a:ln/>
        </p:spPr>
        <p:txBody>
          <a:bodyPr wrap="square" lIns="0" tIns="0" rIns="0" bIns="0" rtlCol="0" anchor="t">
            <a:normAutofit/>
          </a:bodyPr>
          <a:lstStyle/>
          <a:p>
            <a:pPr algn="l" indent="0" marL="0">
              <a:lnSpc>
                <a:spcPct val="110000"/>
              </a:lnSpc>
              <a:buNone/>
            </a:pPr>
            <a:r>
              <a:rPr lang="en-US" sz="950" b="1" dirty="0">
                <a:solidFill>
                  <a:srgbClr val="4C4C4D"/>
                </a:solidFill>
                <a:latin typeface="Heebo Bold" pitchFamily="34" charset="0"/>
                <a:ea typeface="Heebo Bold" pitchFamily="34" charset="-122"/>
                <a:cs typeface="Heebo Bold" pitchFamily="34" charset="-120"/>
              </a:rPr>
              <a:t>ASEAN priority:</a:t>
            </a:r>
            <a:pPr algn="l" indent="0" marL="0">
              <a:lnSpc>
                <a:spcPct val="110000"/>
              </a:lnSpc>
              <a:buNone/>
            </a:pPr>
            <a:r>
              <a:rPr lang="en-US" sz="950" dirty="0">
                <a:solidFill>
                  <a:srgbClr val="4C4C4D"/>
                </a:solidFill>
                <a:latin typeface="Heebo" pitchFamily="34" charset="0"/>
                <a:ea typeface="Heebo" pitchFamily="34" charset="-122"/>
                <a:cs typeface="Heebo" pitchFamily="34" charset="-120"/>
              </a:rPr>
              <a:t> Dengue sits under ASEAN Health Cluster 2, Responding to All Hazards and Emerging Threats, whose ASEAN Dengue Day statements ask member states for earlier and better coordinated action.</a:t>
            </a:r>
            <a:endParaRPr lang="en-US" sz="950" dirty="0"/>
          </a:p>
        </p:txBody>
      </p:sp>
      <p:sp>
        <p:nvSpPr>
          <p:cNvPr id="15" name="Text 13"/>
          <p:cNvSpPr/>
          <p:nvPr/>
        </p:nvSpPr>
        <p:spPr>
          <a:xfrm>
            <a:off x="661475" y="3026966"/>
            <a:ext cx="10868745" cy="191988"/>
          </a:xfrm>
          <a:prstGeom prst="rect">
            <a:avLst/>
          </a:prstGeom>
          <a:noFill/>
          <a:ln/>
        </p:spPr>
        <p:txBody>
          <a:bodyPr wrap="none" lIns="0" tIns="0" rIns="0" bIns="0" rtlCol="0" anchor="t"/>
          <a:lstStyle/>
          <a:p>
            <a:pPr algn="l"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From public index to public action</a:t>
            </a:r>
            <a:endParaRPr lang="en-US" sz="1200" dirty="0"/>
          </a:p>
        </p:txBody>
      </p:sp>
      <p:pic>
        <p:nvPicPr>
          <p:cNvPr id="16" name="Image 0" descr="preencoded.png">    </p:cNvPr>
          <p:cNvPicPr>
            <a:picLocks noChangeAspect="1"/>
          </p:cNvPicPr>
          <p:nvPr/>
        </p:nvPicPr>
        <p:blipFill>
          <a:blip r:embed="rId1"/>
          <a:stretch>
            <a:fillRect/>
          </a:stretch>
        </p:blipFill>
        <p:spPr>
          <a:xfrm>
            <a:off x="661475" y="3338711"/>
            <a:ext cx="7064595" cy="1610717"/>
          </a:xfrm>
          <a:prstGeom prst="rect">
            <a:avLst/>
          </a:prstGeom>
        </p:spPr>
      </p:pic>
      <p:sp>
        <p:nvSpPr>
          <p:cNvPr id="17" name="Text 14"/>
          <p:cNvSpPr/>
          <p:nvPr/>
        </p:nvSpPr>
        <p:spPr>
          <a:xfrm>
            <a:off x="661475" y="5039221"/>
            <a:ext cx="11478330" cy="1621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Climate index (ONI, monthly, public) → 3–4 month lag → Dengue surge → Action window: PSN/3M, larviciding, stockpiles</a:t>
            </a:r>
            <a:endParaRPr lang="en-US" sz="950" dirty="0"/>
          </a:p>
        </p:txBody>
      </p:sp>
      <p:sp>
        <p:nvSpPr>
          <p:cNvPr id="18" name="Text 15"/>
          <p:cNvSpPr/>
          <p:nvPr/>
        </p:nvSpPr>
        <p:spPr>
          <a:xfrm>
            <a:off x="661475" y="5321102"/>
            <a:ext cx="10868745" cy="191988"/>
          </a:xfrm>
          <a:prstGeom prst="rect">
            <a:avLst/>
          </a:prstGeom>
          <a:noFill/>
          <a:ln/>
        </p:spPr>
        <p:txBody>
          <a:bodyPr wrap="none" lIns="0" tIns="0" rIns="0" bIns="0" rtlCol="0" anchor="t"/>
          <a:lstStyle/>
          <a:p>
            <a:pPr algn="l"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What would make us wrong:</a:t>
            </a:r>
            <a:endParaRPr lang="en-US" sz="1200" dirty="0"/>
          </a:p>
        </p:txBody>
      </p:sp>
      <p:sp>
        <p:nvSpPr>
          <p:cNvPr id="19" name="Text 16"/>
          <p:cNvSpPr/>
          <p:nvPr/>
        </p:nvSpPr>
        <p:spPr>
          <a:xfrm>
            <a:off x="661475" y="5632847"/>
            <a:ext cx="10868745" cy="542131"/>
          </a:xfrm>
          <a:prstGeom prst="rect">
            <a:avLst/>
          </a:prstGeom>
          <a:noFill/>
          <a:ln/>
        </p:spPr>
        <p:txBody>
          <a:bodyPr wrap="square" lIns="0" tIns="0" rIns="0" bIns="0" rtlCol="0" anchor="t">
            <a:normAutofit/>
          </a:bodyPr>
          <a:lstStyle/>
          <a:p>
            <a:pPr algn="l" marL="193040" indent="-193040">
              <a:lnSpc>
                <a:spcPct val="110000"/>
              </a:lnSpc>
              <a:buSzPct val="100000"/>
              <a:buChar char="•"/>
            </a:pPr>
            <a:r>
              <a:rPr lang="en-US" sz="950" dirty="0">
                <a:solidFill>
                  <a:srgbClr val="4C4C4D"/>
                </a:solidFill>
                <a:latin typeface="Heebo" pitchFamily="34" charset="0"/>
                <a:ea typeface="Heebo" pitchFamily="34" charset="-122"/>
                <a:cs typeface="Heebo" pitchFamily="34" charset="-120"/>
              </a:rPr>
              <a:t>Signal is only the wet season (answered p. 7)</a:t>
            </a:r>
            <a:endParaRPr lang="en-US" sz="950" dirty="0"/>
          </a:p>
          <a:p>
            <a:pPr algn="l" marL="193040" indent="-193040">
              <a:lnSpc>
                <a:spcPct val="110000"/>
              </a:lnSpc>
              <a:buSzPct val="100000"/>
              <a:buChar char="•"/>
            </a:pPr>
            <a:r>
              <a:rPr lang="en-US" sz="950" dirty="0">
                <a:solidFill>
                  <a:srgbClr val="4C4C4D"/>
                </a:solidFill>
                <a:latin typeface="Heebo" pitchFamily="34" charset="0"/>
                <a:ea typeface="Heebo" pitchFamily="34" charset="-122"/>
                <a:cs typeface="Heebo" pitchFamily="34" charset="-120"/>
              </a:rPr>
              <a:t>Rule was tuned on its own test years (answered p. 12)</a:t>
            </a:r>
            <a:endParaRPr lang="en-US" sz="950" dirty="0"/>
          </a:p>
          <a:p>
            <a:pPr algn="l" marL="193040" indent="-193040">
              <a:lnSpc>
                <a:spcPct val="110000"/>
              </a:lnSpc>
              <a:buSzPct val="100000"/>
              <a:buChar char="•"/>
            </a:pPr>
            <a:r>
              <a:rPr lang="en-US" sz="950" dirty="0">
                <a:solidFill>
                  <a:srgbClr val="4C4C4D"/>
                </a:solidFill>
                <a:latin typeface="Heebo" pitchFamily="34" charset="0"/>
                <a:ea typeface="Heebo" pitchFamily="34" charset="-122"/>
                <a:cs typeface="Heebo" pitchFamily="34" charset="-120"/>
              </a:rPr>
              <a:t>Our innovation angle does not hold (answered p. 14)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613172"/>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52D47"/>
                </a:solidFill>
                <a:latin typeface="Crimson Pro SemiBold" pitchFamily="34" charset="0"/>
                <a:ea typeface="Crimson Pro SemiBold" pitchFamily="34" charset="-122"/>
                <a:cs typeface="Crimson Pro SemiBold" pitchFamily="34" charset="-120"/>
              </a:rPr>
              <a:t>Data &amp; method: Nine open datasets, one monthly panel, zero paid sources</a:t>
            </a:r>
            <a:endParaRPr lang="en-US" sz="2600" dirty="0"/>
          </a:p>
        </p:txBody>
      </p:sp>
      <p:sp>
        <p:nvSpPr>
          <p:cNvPr id="3" name="Shape 1"/>
          <p:cNvSpPr/>
          <p:nvPr/>
        </p:nvSpPr>
        <p:spPr>
          <a:xfrm>
            <a:off x="661475" y="1211858"/>
            <a:ext cx="5388039" cy="706735"/>
          </a:xfrm>
          <a:prstGeom prst="roundRect">
            <a:avLst>
              <a:gd name="adj" fmla="val 2808"/>
            </a:avLst>
          </a:prstGeom>
          <a:solidFill>
            <a:srgbClr val="F2EEEE"/>
          </a:solidFill>
          <a:ln/>
        </p:spPr>
      </p:sp>
      <p:sp>
        <p:nvSpPr>
          <p:cNvPr id="4" name="Text 2"/>
          <p:cNvSpPr/>
          <p:nvPr/>
        </p:nvSpPr>
        <p:spPr>
          <a:xfrm>
            <a:off x="793730" y="1344116"/>
            <a:ext cx="5123528"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Dengue cases</a:t>
            </a:r>
            <a:endParaRPr lang="en-US" sz="1300" dirty="0"/>
          </a:p>
        </p:txBody>
      </p:sp>
      <p:sp>
        <p:nvSpPr>
          <p:cNvPr id="5" name="Text 3"/>
          <p:cNvSpPr/>
          <p:nvPr/>
        </p:nvSpPr>
        <p:spPr>
          <a:xfrm>
            <a:off x="793730" y="1606352"/>
            <a:ext cx="5123528"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OpenDengue V1.3 — 70,397 rows — 10 countries, 1955–2025</a:t>
            </a:r>
            <a:endParaRPr lang="en-US" sz="1000" dirty="0"/>
          </a:p>
        </p:txBody>
      </p:sp>
      <p:sp>
        <p:nvSpPr>
          <p:cNvPr id="6" name="Shape 4"/>
          <p:cNvSpPr/>
          <p:nvPr/>
        </p:nvSpPr>
        <p:spPr>
          <a:xfrm>
            <a:off x="6142082" y="1211858"/>
            <a:ext cx="5388138" cy="706735"/>
          </a:xfrm>
          <a:prstGeom prst="roundRect">
            <a:avLst>
              <a:gd name="adj" fmla="val 2808"/>
            </a:avLst>
          </a:prstGeom>
          <a:solidFill>
            <a:srgbClr val="F2EEEE"/>
          </a:solidFill>
          <a:ln/>
        </p:spPr>
      </p:sp>
      <p:sp>
        <p:nvSpPr>
          <p:cNvPr id="7" name="Text 5"/>
          <p:cNvSpPr/>
          <p:nvPr/>
        </p:nvSpPr>
        <p:spPr>
          <a:xfrm>
            <a:off x="6274338" y="1344116"/>
            <a:ext cx="5123627"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Dengue × climate panel</a:t>
            </a:r>
            <a:endParaRPr lang="en-US" sz="1300" dirty="0"/>
          </a:p>
        </p:txBody>
      </p:sp>
      <p:sp>
        <p:nvSpPr>
          <p:cNvPr id="8" name="Text 6"/>
          <p:cNvSpPr/>
          <p:nvPr/>
        </p:nvSpPr>
        <p:spPr>
          <a:xfrm>
            <a:off x="6274338" y="1606352"/>
            <a:ext cx="5123627"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55,329 rows — province-month, lags pre-computed</a:t>
            </a:r>
            <a:endParaRPr lang="en-US" sz="1000" dirty="0"/>
          </a:p>
        </p:txBody>
      </p:sp>
      <p:sp>
        <p:nvSpPr>
          <p:cNvPr id="9" name="Shape 7"/>
          <p:cNvSpPr/>
          <p:nvPr/>
        </p:nvSpPr>
        <p:spPr>
          <a:xfrm>
            <a:off x="661475" y="2011164"/>
            <a:ext cx="5388039" cy="706735"/>
          </a:xfrm>
          <a:prstGeom prst="roundRect">
            <a:avLst>
              <a:gd name="adj" fmla="val 2808"/>
            </a:avLst>
          </a:prstGeom>
          <a:solidFill>
            <a:srgbClr val="F2EEEE"/>
          </a:solidFill>
          <a:ln/>
        </p:spPr>
      </p:sp>
      <p:sp>
        <p:nvSpPr>
          <p:cNvPr id="10" name="Text 8"/>
          <p:cNvSpPr/>
          <p:nvPr/>
        </p:nvSpPr>
        <p:spPr>
          <a:xfrm>
            <a:off x="793730" y="2143423"/>
            <a:ext cx="5123528"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Temperature &amp; rainfall</a:t>
            </a:r>
            <a:endParaRPr lang="en-US" sz="1300" dirty="0"/>
          </a:p>
        </p:txBody>
      </p:sp>
      <p:sp>
        <p:nvSpPr>
          <p:cNvPr id="11" name="Text 9"/>
          <p:cNvSpPr/>
          <p:nvPr/>
        </p:nvSpPr>
        <p:spPr>
          <a:xfrm>
            <a:off x="793730" y="2405658"/>
            <a:ext cx="5123528"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CCKP, ERA5 — 9,000 rows — monthly, 1950–2024</a:t>
            </a:r>
            <a:endParaRPr lang="en-US" sz="1000" dirty="0"/>
          </a:p>
        </p:txBody>
      </p:sp>
      <p:sp>
        <p:nvSpPr>
          <p:cNvPr id="12" name="Shape 10"/>
          <p:cNvSpPr/>
          <p:nvPr/>
        </p:nvSpPr>
        <p:spPr>
          <a:xfrm>
            <a:off x="6142082" y="2011164"/>
            <a:ext cx="5388138" cy="706735"/>
          </a:xfrm>
          <a:prstGeom prst="roundRect">
            <a:avLst>
              <a:gd name="adj" fmla="val 2808"/>
            </a:avLst>
          </a:prstGeom>
          <a:solidFill>
            <a:srgbClr val="F2EEEE"/>
          </a:solidFill>
          <a:ln/>
        </p:spPr>
      </p:sp>
      <p:sp>
        <p:nvSpPr>
          <p:cNvPr id="13" name="Text 11"/>
          <p:cNvSpPr/>
          <p:nvPr/>
        </p:nvSpPr>
        <p:spPr>
          <a:xfrm>
            <a:off x="6274338" y="2143423"/>
            <a:ext cx="5123627"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ONI El Niño index</a:t>
            </a:r>
            <a:endParaRPr lang="en-US" sz="1300" dirty="0"/>
          </a:p>
        </p:txBody>
      </p:sp>
      <p:sp>
        <p:nvSpPr>
          <p:cNvPr id="14" name="Text 12"/>
          <p:cNvSpPr/>
          <p:nvPr/>
        </p:nvSpPr>
        <p:spPr>
          <a:xfrm>
            <a:off x="6274338" y="2405658"/>
            <a:ext cx="5123627"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NOAA CPC — 918 rows — monthly, 1950–2026</a:t>
            </a:r>
            <a:endParaRPr lang="en-US" sz="1000" dirty="0"/>
          </a:p>
        </p:txBody>
      </p:sp>
      <p:sp>
        <p:nvSpPr>
          <p:cNvPr id="15" name="Shape 13"/>
          <p:cNvSpPr/>
          <p:nvPr/>
        </p:nvSpPr>
        <p:spPr>
          <a:xfrm>
            <a:off x="661475" y="2810470"/>
            <a:ext cx="5388039" cy="706735"/>
          </a:xfrm>
          <a:prstGeom prst="roundRect">
            <a:avLst>
              <a:gd name="adj" fmla="val 2808"/>
            </a:avLst>
          </a:prstGeom>
          <a:solidFill>
            <a:srgbClr val="F2EEEE"/>
          </a:solidFill>
          <a:ln/>
        </p:spPr>
      </p:sp>
      <p:sp>
        <p:nvSpPr>
          <p:cNvPr id="16" name="Text 14"/>
          <p:cNvSpPr/>
          <p:nvPr/>
        </p:nvSpPr>
        <p:spPr>
          <a:xfrm>
            <a:off x="793730" y="2942729"/>
            <a:ext cx="5123528"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Water &amp; sanitation</a:t>
            </a:r>
            <a:endParaRPr lang="en-US" sz="1300" dirty="0"/>
          </a:p>
        </p:txBody>
      </p:sp>
      <p:sp>
        <p:nvSpPr>
          <p:cNvPr id="17" name="Text 15"/>
          <p:cNvSpPr/>
          <p:nvPr/>
        </p:nvSpPr>
        <p:spPr>
          <a:xfrm>
            <a:off x="793730" y="3204964"/>
            <a:ext cx="5123528"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WHO/UNICEF JMP — 8,692 rows — 2000–2024</a:t>
            </a:r>
            <a:endParaRPr lang="en-US" sz="1000" dirty="0"/>
          </a:p>
        </p:txBody>
      </p:sp>
      <p:sp>
        <p:nvSpPr>
          <p:cNvPr id="18" name="Shape 16"/>
          <p:cNvSpPr/>
          <p:nvPr/>
        </p:nvSpPr>
        <p:spPr>
          <a:xfrm>
            <a:off x="6142082" y="2810470"/>
            <a:ext cx="5388138" cy="706735"/>
          </a:xfrm>
          <a:prstGeom prst="roundRect">
            <a:avLst>
              <a:gd name="adj" fmla="val 2808"/>
            </a:avLst>
          </a:prstGeom>
          <a:solidFill>
            <a:srgbClr val="F2EEEE"/>
          </a:solidFill>
          <a:ln/>
        </p:spPr>
      </p:sp>
      <p:sp>
        <p:nvSpPr>
          <p:cNvPr id="19" name="Text 17"/>
          <p:cNvSpPr/>
          <p:nvPr/>
        </p:nvSpPr>
        <p:spPr>
          <a:xfrm>
            <a:off x="6274338" y="2942729"/>
            <a:ext cx="5123627"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Population &amp; Flood</a:t>
            </a:r>
            <a:endParaRPr lang="en-US" sz="1300" dirty="0"/>
          </a:p>
        </p:txBody>
      </p:sp>
      <p:sp>
        <p:nvSpPr>
          <p:cNvPr id="20" name="Text 18"/>
          <p:cNvSpPr/>
          <p:nvPr/>
        </p:nvSpPr>
        <p:spPr>
          <a:xfrm>
            <a:off x="6274338" y="3204964"/>
            <a:ext cx="5123627"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BPS Indonesia — 140 rows · GHSL — 30,348 rows — 836 cities, 1975–2030</a:t>
            </a:r>
            <a:endParaRPr lang="en-US" sz="1000" dirty="0"/>
          </a:p>
        </p:txBody>
      </p:sp>
      <p:sp>
        <p:nvSpPr>
          <p:cNvPr id="21" name="Text 19"/>
          <p:cNvSpPr/>
          <p:nvPr/>
        </p:nvSpPr>
        <p:spPr>
          <a:xfrm>
            <a:off x="1467905" y="3687465"/>
            <a:ext cx="3763571" cy="436662"/>
          </a:xfrm>
          <a:prstGeom prst="rect">
            <a:avLst/>
          </a:prstGeom>
          <a:noFill/>
          <a:ln/>
        </p:spPr>
        <p:txBody>
          <a:bodyPr wrap="none" lIns="0" tIns="0" rIns="0" bIns="0" rtlCol="0" anchor="t"/>
          <a:lstStyle/>
          <a:p>
            <a:pPr algn="ctr" indent="0" marL="0">
              <a:lnSpc>
                <a:spcPct val="83000"/>
              </a:lnSpc>
              <a:buNone/>
            </a:pPr>
            <a:r>
              <a:rPr lang="en-US" sz="3400" dirty="0">
                <a:solidFill>
                  <a:srgbClr val="4C4C4D"/>
                </a:solidFill>
                <a:latin typeface="Crimson Pro SemiBold" pitchFamily="34" charset="0"/>
                <a:ea typeface="Crimson Pro SemiBold" pitchFamily="34" charset="-122"/>
                <a:cs typeface="Crimson Pro SemiBold" pitchFamily="34" charset="-120"/>
              </a:rPr>
              <a:t>175k</a:t>
            </a:r>
            <a:endParaRPr lang="en-US" sz="3400" dirty="0"/>
          </a:p>
        </p:txBody>
      </p:sp>
      <p:sp>
        <p:nvSpPr>
          <p:cNvPr id="22" name="Text 20"/>
          <p:cNvSpPr/>
          <p:nvPr/>
        </p:nvSpPr>
        <p:spPr>
          <a:xfrm>
            <a:off x="661425" y="4259659"/>
            <a:ext cx="5376530" cy="206673"/>
          </a:xfrm>
          <a:prstGeom prst="rect">
            <a:avLst/>
          </a:prstGeom>
          <a:noFill/>
          <a:ln/>
        </p:spPr>
        <p:txBody>
          <a:bodyPr wrap="none" lIns="0" tIns="0" rIns="0" bIns="0" rtlCol="0" anchor="t"/>
          <a:lstStyle/>
          <a:p>
            <a:pPr algn="ctr"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Rows in joined panel</a:t>
            </a:r>
            <a:endParaRPr lang="en-US" sz="1300" dirty="0"/>
          </a:p>
        </p:txBody>
      </p:sp>
      <p:sp>
        <p:nvSpPr>
          <p:cNvPr id="23" name="Text 21"/>
          <p:cNvSpPr/>
          <p:nvPr/>
        </p:nvSpPr>
        <p:spPr>
          <a:xfrm>
            <a:off x="6960120" y="3687465"/>
            <a:ext cx="3763571" cy="436662"/>
          </a:xfrm>
          <a:prstGeom prst="rect">
            <a:avLst/>
          </a:prstGeom>
          <a:noFill/>
          <a:ln/>
        </p:spPr>
        <p:txBody>
          <a:bodyPr wrap="none" lIns="0" tIns="0" rIns="0" bIns="0" rtlCol="0" anchor="t"/>
          <a:lstStyle/>
          <a:p>
            <a:pPr algn="ctr" indent="0" marL="0">
              <a:lnSpc>
                <a:spcPct val="83000"/>
              </a:lnSpc>
              <a:buNone/>
            </a:pPr>
            <a:r>
              <a:rPr lang="en-US" sz="3400" dirty="0">
                <a:solidFill>
                  <a:srgbClr val="4C4C4D"/>
                </a:solidFill>
                <a:latin typeface="Crimson Pro SemiBold" pitchFamily="34" charset="0"/>
                <a:ea typeface="Crimson Pro SemiBold" pitchFamily="34" charset="-122"/>
                <a:cs typeface="Crimson Pro SemiBold" pitchFamily="34" charset="-120"/>
              </a:rPr>
              <a:t>9</a:t>
            </a:r>
            <a:endParaRPr lang="en-US" sz="3400" dirty="0"/>
          </a:p>
        </p:txBody>
      </p:sp>
      <p:sp>
        <p:nvSpPr>
          <p:cNvPr id="24" name="Text 22"/>
          <p:cNvSpPr/>
          <p:nvPr/>
        </p:nvSpPr>
        <p:spPr>
          <a:xfrm>
            <a:off x="6153691" y="4259659"/>
            <a:ext cx="5376530" cy="206673"/>
          </a:xfrm>
          <a:prstGeom prst="rect">
            <a:avLst/>
          </a:prstGeom>
          <a:noFill/>
          <a:ln/>
        </p:spPr>
        <p:txBody>
          <a:bodyPr wrap="none" lIns="0" tIns="0" rIns="0" bIns="0" rtlCol="0" anchor="t"/>
          <a:lstStyle/>
          <a:p>
            <a:pPr algn="ctr"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Countries with monthly data</a:t>
            </a:r>
            <a:endParaRPr lang="en-US" sz="1300" dirty="0"/>
          </a:p>
        </p:txBody>
      </p:sp>
      <p:sp>
        <p:nvSpPr>
          <p:cNvPr id="25" name="Text 23"/>
          <p:cNvSpPr/>
          <p:nvPr/>
        </p:nvSpPr>
        <p:spPr>
          <a:xfrm>
            <a:off x="1467905" y="4717653"/>
            <a:ext cx="3763571" cy="436662"/>
          </a:xfrm>
          <a:prstGeom prst="rect">
            <a:avLst/>
          </a:prstGeom>
          <a:noFill/>
          <a:ln/>
        </p:spPr>
        <p:txBody>
          <a:bodyPr wrap="none" lIns="0" tIns="0" rIns="0" bIns="0" rtlCol="0" anchor="t"/>
          <a:lstStyle/>
          <a:p>
            <a:pPr algn="ctr" indent="0" marL="0">
              <a:lnSpc>
                <a:spcPct val="83000"/>
              </a:lnSpc>
              <a:buNone/>
            </a:pPr>
            <a:r>
              <a:rPr lang="en-US" sz="3400" dirty="0">
                <a:solidFill>
                  <a:srgbClr val="4C4C4D"/>
                </a:solidFill>
                <a:latin typeface="Crimson Pro SemiBold" pitchFamily="34" charset="0"/>
                <a:ea typeface="Crimson Pro SemiBold" pitchFamily="34" charset="-122"/>
                <a:cs typeface="Crimson Pro SemiBold" pitchFamily="34" charset="-120"/>
              </a:rPr>
              <a:t>212</a:t>
            </a:r>
            <a:endParaRPr lang="en-US" sz="3400" dirty="0"/>
          </a:p>
        </p:txBody>
      </p:sp>
      <p:sp>
        <p:nvSpPr>
          <p:cNvPr id="26" name="Text 24"/>
          <p:cNvSpPr/>
          <p:nvPr/>
        </p:nvSpPr>
        <p:spPr>
          <a:xfrm>
            <a:off x="661425" y="5289848"/>
            <a:ext cx="5376530" cy="206673"/>
          </a:xfrm>
          <a:prstGeom prst="rect">
            <a:avLst/>
          </a:prstGeom>
          <a:noFill/>
          <a:ln/>
        </p:spPr>
        <p:txBody>
          <a:bodyPr wrap="none" lIns="0" tIns="0" rIns="0" bIns="0" rtlCol="0" anchor="t"/>
          <a:lstStyle/>
          <a:p>
            <a:pPr algn="ctr"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Provinces covered</a:t>
            </a:r>
            <a:endParaRPr lang="en-US" sz="1300" dirty="0"/>
          </a:p>
        </p:txBody>
      </p:sp>
      <p:sp>
        <p:nvSpPr>
          <p:cNvPr id="27" name="Text 25"/>
          <p:cNvSpPr/>
          <p:nvPr/>
        </p:nvSpPr>
        <p:spPr>
          <a:xfrm>
            <a:off x="6960120" y="4717653"/>
            <a:ext cx="3763571" cy="436662"/>
          </a:xfrm>
          <a:prstGeom prst="rect">
            <a:avLst/>
          </a:prstGeom>
          <a:noFill/>
          <a:ln/>
        </p:spPr>
        <p:txBody>
          <a:bodyPr wrap="none" lIns="0" tIns="0" rIns="0" bIns="0" rtlCol="0" anchor="t"/>
          <a:lstStyle/>
          <a:p>
            <a:pPr algn="ctr" indent="0" marL="0">
              <a:lnSpc>
                <a:spcPct val="83000"/>
              </a:lnSpc>
              <a:buNone/>
            </a:pPr>
            <a:r>
              <a:rPr lang="en-US" sz="3400" dirty="0">
                <a:solidFill>
                  <a:srgbClr val="4C4C4D"/>
                </a:solidFill>
                <a:latin typeface="Crimson Pro SemiBold" pitchFamily="34" charset="0"/>
                <a:ea typeface="Crimson Pro SemiBold" pitchFamily="34" charset="-122"/>
                <a:cs typeface="Crimson Pro SemiBold" pitchFamily="34" charset="-120"/>
              </a:rPr>
              <a:t>0</a:t>
            </a:r>
            <a:endParaRPr lang="en-US" sz="3400" dirty="0"/>
          </a:p>
        </p:txBody>
      </p:sp>
      <p:sp>
        <p:nvSpPr>
          <p:cNvPr id="28" name="Text 26"/>
          <p:cNvSpPr/>
          <p:nvPr/>
        </p:nvSpPr>
        <p:spPr>
          <a:xfrm>
            <a:off x="6153691" y="5289848"/>
            <a:ext cx="5376530" cy="206673"/>
          </a:xfrm>
          <a:prstGeom prst="rect">
            <a:avLst/>
          </a:prstGeom>
          <a:noFill/>
          <a:ln/>
        </p:spPr>
        <p:txBody>
          <a:bodyPr wrap="none" lIns="0" tIns="0" rIns="0" bIns="0" rtlCol="0" anchor="t"/>
          <a:lstStyle/>
          <a:p>
            <a:pPr algn="ctr"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Paid or login-only sources</a:t>
            </a:r>
            <a:endParaRPr lang="en-US" sz="1300" dirty="0"/>
          </a:p>
        </p:txBody>
      </p:sp>
      <p:sp>
        <p:nvSpPr>
          <p:cNvPr id="29" name="Text 27"/>
          <p:cNvSpPr/>
          <p:nvPr/>
        </p:nvSpPr>
        <p:spPr>
          <a:xfrm>
            <a:off x="661475" y="5600700"/>
            <a:ext cx="10868745" cy="644128"/>
          </a:xfrm>
          <a:prstGeom prst="rect">
            <a:avLst/>
          </a:prstGeom>
          <a:noFill/>
          <a:ln/>
        </p:spPr>
        <p:txBody>
          <a:bodyPr wrap="square" lIns="0" tIns="0" rIns="0" bIns="0" rtlCol="0" anchor="t">
            <a:normAutofit/>
          </a:bodyPr>
          <a:lstStyle/>
          <a:p>
            <a:pPr algn="l" indent="0" marL="0">
              <a:lnSpc>
                <a:spcPct val="113000"/>
              </a:lnSpc>
              <a:spcAft>
                <a:spcPts val="800"/>
              </a:spcAft>
              <a:buNone/>
            </a:pPr>
            <a:r>
              <a:rPr lang="en-US" sz="1000" b="1" dirty="0">
                <a:solidFill>
                  <a:srgbClr val="4C4C4D"/>
                </a:solidFill>
                <a:latin typeface="Heebo Bold" pitchFamily="34" charset="0"/>
                <a:ea typeface="Heebo Bold" pitchFamily="34" charset="-122"/>
                <a:cs typeface="Heebo Bold" pitchFamily="34" charset="-120"/>
              </a:rPr>
              <a:t>Method:</a:t>
            </a:r>
            <a:pPr algn="l" indent="0" marL="0">
              <a:lnSpc>
                <a:spcPct val="113000"/>
              </a:lnSpc>
              <a:spcAft>
                <a:spcPts val="800"/>
              </a:spcAft>
              <a:buNone/>
            </a:pPr>
            <a:r>
              <a:rPr lang="en-US" sz="1000" dirty="0">
                <a:solidFill>
                  <a:srgbClr val="4C4C4D"/>
                </a:solidFill>
                <a:latin typeface="Heebo" pitchFamily="34" charset="0"/>
                <a:ea typeface="Heebo" pitchFamily="34" charset="-122"/>
                <a:cs typeface="Heebo" pitchFamily="34" charset="-120"/>
              </a:rPr>
              <a:t> monthly national series 2010+; lagged correlations 0–4 months; anomalies — the seasonal cycle is removed before we accept any correlation; a two-condition trigger rule; out-of-sample test on unseen years; WHO/PAHO endemic-channel benchmark. All charts built in SAP Analytics Cloud.</a:t>
            </a:r>
            <a:endParaRPr lang="en-US" sz="1000" dirty="0"/>
          </a:p>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Source: Nine sources, all public: OpenDengue · World Bank CCKP (ERA5) · NOAA CPC · WHO/UNICEF JMP · BPS · GHSL · SIPSN KLHK · BNPB. No licence, no login, no cost.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68722"/>
            <a:ext cx="10868745" cy="298152"/>
          </a:xfrm>
          <a:prstGeom prst="rect">
            <a:avLst/>
          </a:prstGeom>
          <a:noFill/>
          <a:ln/>
        </p:spPr>
        <p:txBody>
          <a:bodyPr wrap="none" lIns="0" tIns="0" rIns="0" bIns="0" rtlCol="0" anchor="t"/>
          <a:lstStyle/>
          <a:p>
            <a:pPr algn="l" indent="0" marL="0">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Analysis 1 · The season: Dengue has a calendar, and it is not the same one everywhere</a:t>
            </a:r>
            <a:endParaRPr lang="en-US" sz="1850" dirty="0"/>
          </a:p>
        </p:txBody>
      </p:sp>
      <p:sp>
        <p:nvSpPr>
          <p:cNvPr id="3" name="Shape 1"/>
          <p:cNvSpPr/>
          <p:nvPr/>
        </p:nvSpPr>
        <p:spPr>
          <a:xfrm>
            <a:off x="661475" y="963116"/>
            <a:ext cx="10868745" cy="597991"/>
          </a:xfrm>
          <a:prstGeom prst="roundRect">
            <a:avLst>
              <a:gd name="adj" fmla="val 2393"/>
            </a:avLst>
          </a:prstGeom>
          <a:solidFill>
            <a:srgbClr val="F2EEEE"/>
          </a:solidFill>
          <a:ln/>
        </p:spPr>
      </p:sp>
      <p:sp>
        <p:nvSpPr>
          <p:cNvPr id="4" name="Shape 2"/>
          <p:cNvSpPr/>
          <p:nvPr/>
        </p:nvSpPr>
        <p:spPr>
          <a:xfrm>
            <a:off x="661475" y="963116"/>
            <a:ext cx="3622882" cy="597991"/>
          </a:xfrm>
          <a:custGeom>
            <a:avLst/>
            <a:gdLst/>
            <a:ahLst/>
            <a:cxnLst/>
            <a:rect l="l" t="t" r="r" b="b"/>
            <a:pathLst>
              <a:path w="3622882" h="597991">
                <a:moveTo>
                  <a:pt x="11924" y="0"/>
                </a:moveTo>
                <a:lnTo>
                  <a:pt x="3622882" y="0"/>
                </a:lnTo>
                <a:lnTo>
                  <a:pt x="3622882" y="597991"/>
                </a:lnTo>
                <a:lnTo>
                  <a:pt x="11924" y="597991"/>
                </a:lnTo>
                <a:arcTo hR="11925" wR="11924" stAng="5400000" swAng="5400000"/>
                <a:lnTo>
                  <a:pt x="0" y="11925"/>
                </a:lnTo>
                <a:arcTo hR="11925" wR="11924" stAng="10800000" swAng="5400000"/>
                <a:close/>
              </a:path>
            </a:pathLst>
          </a:custGeom>
          <a:solidFill>
            <a:srgbClr val="F2EEEE"/>
          </a:solidFill>
          <a:ln/>
        </p:spPr>
      </p:sp>
      <p:sp>
        <p:nvSpPr>
          <p:cNvPr id="5" name="Text 3"/>
          <p:cNvSpPr/>
          <p:nvPr/>
        </p:nvSpPr>
        <p:spPr>
          <a:xfrm>
            <a:off x="756822" y="1058466"/>
            <a:ext cx="3432188" cy="149027"/>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Indonesia</a:t>
            </a:r>
            <a:endParaRPr lang="en-US" sz="900" dirty="0"/>
          </a:p>
        </p:txBody>
      </p:sp>
      <p:sp>
        <p:nvSpPr>
          <p:cNvPr id="6" name="Text 4"/>
          <p:cNvSpPr/>
          <p:nvPr/>
        </p:nvSpPr>
        <p:spPr>
          <a:xfrm>
            <a:off x="756822" y="1236365"/>
            <a:ext cx="3432188" cy="229394"/>
          </a:xfrm>
          <a:prstGeom prst="rect">
            <a:avLst/>
          </a:prstGeom>
          <a:noFill/>
          <a:ln/>
        </p:spPr>
        <p:txBody>
          <a:bodyPr wrap="square" lIns="0" tIns="0" rIns="0" bIns="0" rtlCol="0" anchor="t">
            <a:normAutofit/>
          </a:bodyPr>
          <a:lstStyle/>
          <a:p>
            <a:pPr algn="l" indent="0" marL="0">
              <a:lnSpc>
                <a:spcPct val="100000"/>
              </a:lnSpc>
              <a:buNone/>
            </a:pPr>
            <a:r>
              <a:rPr lang="en-US" sz="750" dirty="0">
                <a:solidFill>
                  <a:srgbClr val="4C4C4D"/>
                </a:solidFill>
                <a:latin typeface="Heebo" pitchFamily="34" charset="0"/>
                <a:ea typeface="Heebo" pitchFamily="34" charset="-122"/>
                <a:cs typeface="Heebo" pitchFamily="34" charset="-120"/>
              </a:rPr>
              <a:t>Peaks Jan–Apr, right after the December rainfall peak. Jan 15,099 cases/month vs Sep 6,003 = </a:t>
            </a:r>
            <a:pPr algn="l" indent="0" marL="0">
              <a:lnSpc>
                <a:spcPct val="100000"/>
              </a:lnSpc>
              <a:buNone/>
            </a:pPr>
            <a:r>
              <a:rPr lang="en-US" sz="750" b="1" dirty="0">
                <a:solidFill>
                  <a:srgbClr val="4C4C4D"/>
                </a:solidFill>
                <a:latin typeface="Heebo Bold" pitchFamily="34" charset="0"/>
                <a:ea typeface="Heebo Bold" pitchFamily="34" charset="-122"/>
                <a:cs typeface="Heebo Bold" pitchFamily="34" charset="-120"/>
              </a:rPr>
              <a:t>2.5×</a:t>
            </a:r>
            <a:endParaRPr lang="en-US" sz="750" dirty="0"/>
          </a:p>
        </p:txBody>
      </p:sp>
      <p:sp>
        <p:nvSpPr>
          <p:cNvPr id="7" name="Shape 5"/>
          <p:cNvSpPr/>
          <p:nvPr/>
        </p:nvSpPr>
        <p:spPr>
          <a:xfrm>
            <a:off x="4284357" y="963116"/>
            <a:ext cx="3622882" cy="597991"/>
          </a:xfrm>
          <a:prstGeom prst="rect">
            <a:avLst/>
          </a:prstGeom>
          <a:solidFill>
            <a:srgbClr val="F2EEEE"/>
          </a:solidFill>
          <a:ln/>
        </p:spPr>
      </p:sp>
      <p:sp>
        <p:nvSpPr>
          <p:cNvPr id="8" name="Shape 6"/>
          <p:cNvSpPr/>
          <p:nvPr/>
        </p:nvSpPr>
        <p:spPr>
          <a:xfrm>
            <a:off x="4284357" y="963116"/>
            <a:ext cx="12700" cy="597991"/>
          </a:xfrm>
          <a:prstGeom prst="roundRect">
            <a:avLst>
              <a:gd name="adj" fmla="val 49999"/>
            </a:avLst>
          </a:prstGeom>
          <a:solidFill>
            <a:srgbClr val="D8D4D4"/>
          </a:solidFill>
          <a:ln/>
        </p:spPr>
      </p:sp>
      <p:sp>
        <p:nvSpPr>
          <p:cNvPr id="9" name="Text 7"/>
          <p:cNvSpPr/>
          <p:nvPr/>
        </p:nvSpPr>
        <p:spPr>
          <a:xfrm>
            <a:off x="4379704" y="1058466"/>
            <a:ext cx="3432188" cy="149027"/>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Thailand</a:t>
            </a:r>
            <a:endParaRPr lang="en-US" sz="900" dirty="0"/>
          </a:p>
        </p:txBody>
      </p:sp>
      <p:sp>
        <p:nvSpPr>
          <p:cNvPr id="10" name="Text 8"/>
          <p:cNvSpPr/>
          <p:nvPr/>
        </p:nvSpPr>
        <p:spPr>
          <a:xfrm>
            <a:off x="4379704" y="1236365"/>
            <a:ext cx="3432188" cy="229394"/>
          </a:xfrm>
          <a:prstGeom prst="rect">
            <a:avLst/>
          </a:prstGeom>
          <a:noFill/>
          <a:ln/>
        </p:spPr>
        <p:txBody>
          <a:bodyPr wrap="square" lIns="0" tIns="0" rIns="0" bIns="0" rtlCol="0" anchor="t">
            <a:normAutofit/>
          </a:bodyPr>
          <a:lstStyle/>
          <a:p>
            <a:pPr algn="l" indent="0" marL="0">
              <a:lnSpc>
                <a:spcPct val="100000"/>
              </a:lnSpc>
              <a:buNone/>
            </a:pPr>
            <a:r>
              <a:rPr lang="en-US" sz="750" dirty="0">
                <a:solidFill>
                  <a:srgbClr val="4C4C4D"/>
                </a:solidFill>
                <a:latin typeface="Heebo" pitchFamily="34" charset="0"/>
                <a:ea typeface="Heebo" pitchFamily="34" charset="-122"/>
                <a:cs typeface="Heebo" pitchFamily="34" charset="-120"/>
              </a:rPr>
              <a:t>Climbs with the onset of the wet season and peaks Jun–Sep. Jul 8,110 vs Feb 1,465 = </a:t>
            </a:r>
            <a:pPr algn="l" indent="0" marL="0">
              <a:lnSpc>
                <a:spcPct val="100000"/>
              </a:lnSpc>
              <a:buNone/>
            </a:pPr>
            <a:r>
              <a:rPr lang="en-US" sz="750" b="1" dirty="0">
                <a:solidFill>
                  <a:srgbClr val="4C4C4D"/>
                </a:solidFill>
                <a:latin typeface="Heebo Bold" pitchFamily="34" charset="0"/>
                <a:ea typeface="Heebo Bold" pitchFamily="34" charset="-122"/>
                <a:cs typeface="Heebo Bold" pitchFamily="34" charset="-120"/>
              </a:rPr>
              <a:t>5.5×</a:t>
            </a:r>
            <a:endParaRPr lang="en-US" sz="750" dirty="0"/>
          </a:p>
        </p:txBody>
      </p:sp>
      <p:sp>
        <p:nvSpPr>
          <p:cNvPr id="11" name="Shape 9"/>
          <p:cNvSpPr/>
          <p:nvPr/>
        </p:nvSpPr>
        <p:spPr>
          <a:xfrm>
            <a:off x="7907239" y="963116"/>
            <a:ext cx="3622882" cy="597991"/>
          </a:xfrm>
          <a:custGeom>
            <a:avLst/>
            <a:gdLst/>
            <a:ahLst/>
            <a:cxnLst/>
            <a:rect l="l" t="t" r="r" b="b"/>
            <a:pathLst>
              <a:path w="3622882" h="597991">
                <a:moveTo>
                  <a:pt x="0" y="0"/>
                </a:moveTo>
                <a:lnTo>
                  <a:pt x="3610958" y="0"/>
                </a:lnTo>
                <a:arcTo hR="11925" wR="11924" stAng="16200000" swAng="5400000"/>
                <a:lnTo>
                  <a:pt x="3622882" y="586067"/>
                </a:lnTo>
                <a:arcTo hR="11925" wR="11924" stAng="0" swAng="5400000"/>
                <a:lnTo>
                  <a:pt x="0" y="597991"/>
                </a:lnTo>
                <a:lnTo>
                  <a:pt x="0" y="0"/>
                </a:lnTo>
                <a:close/>
              </a:path>
            </a:pathLst>
          </a:custGeom>
          <a:solidFill>
            <a:srgbClr val="F2EEEE"/>
          </a:solidFill>
          <a:ln/>
        </p:spPr>
      </p:sp>
      <p:sp>
        <p:nvSpPr>
          <p:cNvPr id="12" name="Shape 10"/>
          <p:cNvSpPr/>
          <p:nvPr/>
        </p:nvSpPr>
        <p:spPr>
          <a:xfrm>
            <a:off x="7907239" y="963116"/>
            <a:ext cx="12700" cy="597991"/>
          </a:xfrm>
          <a:prstGeom prst="roundRect">
            <a:avLst>
              <a:gd name="adj" fmla="val 49999"/>
            </a:avLst>
          </a:prstGeom>
          <a:solidFill>
            <a:srgbClr val="D8D4D4"/>
          </a:solidFill>
          <a:ln/>
        </p:spPr>
      </p:sp>
      <p:sp>
        <p:nvSpPr>
          <p:cNvPr id="13" name="Text 11"/>
          <p:cNvSpPr/>
          <p:nvPr/>
        </p:nvSpPr>
        <p:spPr>
          <a:xfrm>
            <a:off x="8002586" y="1058466"/>
            <a:ext cx="3432188" cy="149027"/>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One disease</a:t>
            </a:r>
            <a:endParaRPr lang="en-US" sz="900" dirty="0"/>
          </a:p>
        </p:txBody>
      </p:sp>
      <p:sp>
        <p:nvSpPr>
          <p:cNvPr id="14" name="Text 12"/>
          <p:cNvSpPr/>
          <p:nvPr/>
        </p:nvSpPr>
        <p:spPr>
          <a:xfrm>
            <a:off x="8002586" y="1236365"/>
            <a:ext cx="3432188" cy="114697"/>
          </a:xfrm>
          <a:prstGeom prst="rect">
            <a:avLst/>
          </a:prstGeom>
          <a:noFill/>
          <a:ln/>
        </p:spPr>
        <p:txBody>
          <a:bodyPr wrap="none" lIns="0" tIns="0" rIns="0" bIns="0" rtlCol="0" anchor="t"/>
          <a:lstStyle/>
          <a:p>
            <a:pPr algn="l" indent="0" marL="0">
              <a:lnSpc>
                <a:spcPct val="100000"/>
              </a:lnSpc>
              <a:buNone/>
            </a:pPr>
            <a:r>
              <a:rPr lang="en-US" sz="750" dirty="0">
                <a:solidFill>
                  <a:srgbClr val="4C4C4D"/>
                </a:solidFill>
                <a:latin typeface="Heebo" pitchFamily="34" charset="0"/>
                <a:ea typeface="Heebo" pitchFamily="34" charset="-122"/>
                <a:cs typeface="Heebo" pitchFamily="34" charset="-120"/>
              </a:rPr>
              <a:t>Two calendars in opposite halves of the year</a:t>
            </a:r>
            <a:endParaRPr lang="en-US" sz="750" dirty="0"/>
          </a:p>
        </p:txBody>
      </p:sp>
      <p:sp>
        <p:nvSpPr>
          <p:cNvPr id="15" name="Text 13"/>
          <p:cNvSpPr/>
          <p:nvPr/>
        </p:nvSpPr>
        <p:spPr>
          <a:xfrm>
            <a:off x="661475" y="1663303"/>
            <a:ext cx="6983139" cy="149027"/>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Indonesia: cases vs rainfall by month</a:t>
            </a:r>
            <a:endParaRPr lang="en-US" sz="900" dirty="0"/>
          </a:p>
        </p:txBody>
      </p:sp>
      <p:pic>
        <p:nvPicPr>
          <p:cNvPr id="16" name="Image 0" descr="preencoded.png">    </p:cNvPr>
          <p:cNvPicPr>
            <a:picLocks noChangeAspect="1"/>
          </p:cNvPicPr>
          <p:nvPr/>
        </p:nvPicPr>
        <p:blipFill>
          <a:blip r:embed="rId1"/>
          <a:stretch>
            <a:fillRect/>
          </a:stretch>
        </p:blipFill>
        <p:spPr>
          <a:xfrm>
            <a:off x="2130769" y="1866404"/>
            <a:ext cx="4044452" cy="3862487"/>
          </a:xfrm>
          <a:prstGeom prst="rect">
            <a:avLst/>
          </a:prstGeom>
        </p:spPr>
      </p:pic>
      <p:sp>
        <p:nvSpPr>
          <p:cNvPr id="17" name="Text 14"/>
          <p:cNvSpPr/>
          <p:nvPr/>
        </p:nvSpPr>
        <p:spPr>
          <a:xfrm>
            <a:off x="7883725" y="1938437"/>
            <a:ext cx="3652746" cy="149027"/>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Thailand: cases vs rainfall by month</a:t>
            </a:r>
            <a:endParaRPr lang="en-US" sz="900" dirty="0"/>
          </a:p>
        </p:txBody>
      </p:sp>
      <p:pic>
        <p:nvPicPr>
          <p:cNvPr id="18" name="Image 1" descr="preencoded.png">    </p:cNvPr>
          <p:cNvPicPr>
            <a:picLocks noChangeAspect="1"/>
          </p:cNvPicPr>
          <p:nvPr/>
        </p:nvPicPr>
        <p:blipFill>
          <a:blip r:embed="rId2"/>
          <a:stretch>
            <a:fillRect/>
          </a:stretch>
        </p:blipFill>
        <p:spPr>
          <a:xfrm>
            <a:off x="7975004" y="2141538"/>
            <a:ext cx="3470089" cy="3312220"/>
          </a:xfrm>
          <a:prstGeom prst="rect">
            <a:avLst/>
          </a:prstGeom>
        </p:spPr>
      </p:pic>
      <p:sp>
        <p:nvSpPr>
          <p:cNvPr id="19" name="Text 15"/>
          <p:cNvSpPr/>
          <p:nvPr/>
        </p:nvSpPr>
        <p:spPr>
          <a:xfrm>
            <a:off x="661475" y="5837039"/>
            <a:ext cx="10868745" cy="452239"/>
          </a:xfrm>
          <a:prstGeom prst="rect">
            <a:avLst/>
          </a:prstGeom>
          <a:noFill/>
          <a:ln/>
        </p:spPr>
        <p:txBody>
          <a:bodyPr wrap="square" lIns="0" tIns="0" rIns="0" bIns="0" rtlCol="0" anchor="t"/>
          <a:lstStyle/>
          <a:p>
            <a:pPr algn="l" indent="0" marL="0">
              <a:lnSpc>
                <a:spcPct val="100000"/>
              </a:lnSpc>
              <a:spcAft>
                <a:spcPts val="400"/>
              </a:spcAft>
              <a:buNone/>
            </a:pPr>
            <a:r>
              <a:rPr lang="en-US" sz="750" dirty="0">
                <a:solidFill>
                  <a:srgbClr val="4C4C4D"/>
                </a:solidFill>
                <a:latin typeface="Heebo" pitchFamily="34" charset="0"/>
                <a:ea typeface="Heebo" pitchFamily="34" charset="-122"/>
                <a:cs typeface="Heebo" pitchFamily="34" charset="-120"/>
              </a:rPr>
              <a:t>A regional alarm has to be local in its timing.</a:t>
            </a:r>
            <a:endParaRPr lang="en-US" sz="750" dirty="0"/>
          </a:p>
          <a:p>
            <a:pPr algn="l" indent="0" marL="0">
              <a:lnSpc>
                <a:spcPct val="100000"/>
              </a:lnSpc>
              <a:spcAft>
                <a:spcPts val="400"/>
              </a:spcAft>
              <a:buNone/>
            </a:pPr>
            <a:r>
              <a:rPr lang="en-US" sz="750" dirty="0">
                <a:solidFill>
                  <a:srgbClr val="4C4C4D"/>
                </a:solidFill>
                <a:latin typeface="Heebo" pitchFamily="34" charset="0"/>
                <a:ea typeface="Heebo" pitchFamily="34" charset="-122"/>
                <a:cs typeface="Heebo" pitchFamily="34" charset="-120"/>
              </a:rPr>
              <a:t>Rainfall alone cannot set the date: Thailand's rain peaks in September, two months after its cases. Something earlier in the chain is doing the work.</a:t>
            </a:r>
            <a:endParaRPr lang="en-US" sz="750" dirty="0"/>
          </a:p>
          <a:p>
            <a:pPr algn="l" indent="0" marL="0">
              <a:lnSpc>
                <a:spcPct val="100000"/>
              </a:lnSpc>
              <a:buNone/>
            </a:pPr>
            <a:r>
              <a:rPr lang="en-US" sz="750" dirty="0">
                <a:solidFill>
                  <a:srgbClr val="4C4C4D"/>
                </a:solidFill>
                <a:latin typeface="Heebo" pitchFamily="34" charset="0"/>
                <a:ea typeface="Heebo" pitchFamily="34" charset="-122"/>
                <a:cs typeface="Heebo" pitchFamily="34" charset="-120"/>
              </a:rPr>
              <a:t>Source: national monthly means, complete years only (IDN 2010–2023, THA 2010–2022).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20105"/>
            <a:ext cx="10868745" cy="281880"/>
          </a:xfrm>
          <a:prstGeom prst="rect">
            <a:avLst/>
          </a:prstGeom>
          <a:noFill/>
          <a:ln/>
        </p:spPr>
        <p:txBody>
          <a:bodyPr wrap="none" lIns="0" tIns="0" rIns="0" bIns="0" rtlCol="0" anchor="t"/>
          <a:lstStyle/>
          <a:p>
            <a:pPr algn="l" indent="0" marL="0">
              <a:lnSpc>
                <a:spcPct val="104000"/>
              </a:lnSpc>
              <a:buNone/>
            </a:pPr>
            <a:r>
              <a:rPr lang="en-US" sz="1750" dirty="0">
                <a:solidFill>
                  <a:srgbClr val="152D47"/>
                </a:solidFill>
                <a:latin typeface="Crimson Pro SemiBold" pitchFamily="34" charset="0"/>
                <a:ea typeface="Crimson Pro SemiBold" pitchFamily="34" charset="-122"/>
                <a:cs typeface="Crimson Pro SemiBold" pitchFamily="34" charset="-120"/>
              </a:rPr>
              <a:t>Analysis 2 · The lag: The climate signal arrives 1–4 months before the cases</a:t>
            </a:r>
            <a:endParaRPr lang="en-US" sz="1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888107"/>
            <a:ext cx="3594209" cy="479127"/>
          </a:xfrm>
          <a:prstGeom prst="rect">
            <a:avLst/>
          </a:prstGeom>
        </p:spPr>
      </p:pic>
      <p:sp>
        <p:nvSpPr>
          <p:cNvPr id="4" name="Text 1"/>
          <p:cNvSpPr/>
          <p:nvPr/>
        </p:nvSpPr>
        <p:spPr>
          <a:xfrm>
            <a:off x="815161" y="990997"/>
            <a:ext cx="3337635"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Indonesia — ONI (El Niño)</a:t>
            </a:r>
            <a:endParaRPr lang="en-US" sz="850" dirty="0"/>
          </a:p>
        </p:txBody>
      </p:sp>
      <p:sp>
        <p:nvSpPr>
          <p:cNvPr id="5" name="Text 2"/>
          <p:cNvSpPr/>
          <p:nvPr/>
        </p:nvSpPr>
        <p:spPr>
          <a:xfrm>
            <a:off x="815161" y="1157784"/>
            <a:ext cx="3337635"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Lag 4 mo, r = </a:t>
            </a:r>
            <a:pPr algn="l" indent="0" marL="0">
              <a:lnSpc>
                <a:spcPct val="98000"/>
              </a:lnSpc>
              <a:buNone/>
            </a:pPr>
            <a:r>
              <a:rPr lang="en-US" sz="700" b="1" dirty="0">
                <a:solidFill>
                  <a:srgbClr val="4C4C4D"/>
                </a:solidFill>
                <a:latin typeface="Heebo Bold" pitchFamily="34" charset="0"/>
                <a:ea typeface="Heebo Bold" pitchFamily="34" charset="-122"/>
                <a:cs typeface="Heebo Bold" pitchFamily="34" charset="-120"/>
              </a:rPr>
              <a:t>+0.59</a:t>
            </a:r>
            <a:endParaRPr lang="en-US" sz="7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8743" y="888107"/>
            <a:ext cx="3594209" cy="479127"/>
          </a:xfrm>
          <a:prstGeom prst="rect">
            <a:avLst/>
          </a:prstGeom>
        </p:spPr>
      </p:pic>
      <p:sp>
        <p:nvSpPr>
          <p:cNvPr id="7" name="Text 3"/>
          <p:cNvSpPr/>
          <p:nvPr/>
        </p:nvSpPr>
        <p:spPr>
          <a:xfrm>
            <a:off x="4452429" y="990997"/>
            <a:ext cx="3337635"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Indonesia — Temperature</a:t>
            </a:r>
            <a:endParaRPr lang="en-US" sz="850" dirty="0"/>
          </a:p>
        </p:txBody>
      </p:sp>
      <p:sp>
        <p:nvSpPr>
          <p:cNvPr id="8" name="Text 4"/>
          <p:cNvSpPr/>
          <p:nvPr/>
        </p:nvSpPr>
        <p:spPr>
          <a:xfrm>
            <a:off x="4452429" y="1157784"/>
            <a:ext cx="3337635"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Lag 3 mo, r = </a:t>
            </a:r>
            <a:pPr algn="l" indent="0" marL="0">
              <a:lnSpc>
                <a:spcPct val="98000"/>
              </a:lnSpc>
              <a:buNone/>
            </a:pPr>
            <a:r>
              <a:rPr lang="en-US" sz="700" b="1" dirty="0">
                <a:solidFill>
                  <a:srgbClr val="4C4C4D"/>
                </a:solidFill>
                <a:latin typeface="Heebo Bold" pitchFamily="34" charset="0"/>
                <a:ea typeface="Heebo Bold" pitchFamily="34" charset="-122"/>
                <a:cs typeface="Heebo Bold" pitchFamily="34" charset="-120"/>
              </a:rPr>
              <a:t>+0.47</a:t>
            </a:r>
            <a:endParaRPr lang="en-US" sz="7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6012" y="888107"/>
            <a:ext cx="3594209" cy="479127"/>
          </a:xfrm>
          <a:prstGeom prst="rect">
            <a:avLst/>
          </a:prstGeom>
        </p:spPr>
      </p:pic>
      <p:sp>
        <p:nvSpPr>
          <p:cNvPr id="10" name="Text 5"/>
          <p:cNvSpPr/>
          <p:nvPr/>
        </p:nvSpPr>
        <p:spPr>
          <a:xfrm>
            <a:off x="8089698" y="990997"/>
            <a:ext cx="3337635"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Indonesia — Rainfall</a:t>
            </a:r>
            <a:endParaRPr lang="en-US" sz="850" dirty="0"/>
          </a:p>
        </p:txBody>
      </p:sp>
      <p:sp>
        <p:nvSpPr>
          <p:cNvPr id="11" name="Text 6"/>
          <p:cNvSpPr/>
          <p:nvPr/>
        </p:nvSpPr>
        <p:spPr>
          <a:xfrm>
            <a:off x="8089698" y="1157784"/>
            <a:ext cx="3337635"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Lag 1 mo, r = </a:t>
            </a:r>
            <a:pPr algn="l" indent="0" marL="0">
              <a:lnSpc>
                <a:spcPct val="98000"/>
              </a:lnSpc>
              <a:buNone/>
            </a:pPr>
            <a:r>
              <a:rPr lang="en-US" sz="700" b="1" dirty="0">
                <a:solidFill>
                  <a:srgbClr val="4C4C4D"/>
                </a:solidFill>
                <a:latin typeface="Heebo Bold" pitchFamily="34" charset="0"/>
                <a:ea typeface="Heebo Bold" pitchFamily="34" charset="-122"/>
                <a:cs typeface="Heebo Bold" pitchFamily="34" charset="-120"/>
              </a:rPr>
              <a:t>+0.40</a:t>
            </a:r>
            <a:endParaRPr lang="en-US" sz="7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1410295"/>
            <a:ext cx="3594209" cy="479127"/>
          </a:xfrm>
          <a:prstGeom prst="rect">
            <a:avLst/>
          </a:prstGeom>
        </p:spPr>
      </p:pic>
      <p:sp>
        <p:nvSpPr>
          <p:cNvPr id="13" name="Text 7"/>
          <p:cNvSpPr/>
          <p:nvPr/>
        </p:nvSpPr>
        <p:spPr>
          <a:xfrm>
            <a:off x="815161" y="1513185"/>
            <a:ext cx="3337635"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Thailand — Temperature</a:t>
            </a:r>
            <a:endParaRPr lang="en-US" sz="850" dirty="0"/>
          </a:p>
        </p:txBody>
      </p:sp>
      <p:sp>
        <p:nvSpPr>
          <p:cNvPr id="14" name="Text 8"/>
          <p:cNvSpPr/>
          <p:nvPr/>
        </p:nvSpPr>
        <p:spPr>
          <a:xfrm>
            <a:off x="815161" y="1679972"/>
            <a:ext cx="3337635"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Lag 3 mo, r = </a:t>
            </a:r>
            <a:pPr algn="l" indent="0" marL="0">
              <a:lnSpc>
                <a:spcPct val="98000"/>
              </a:lnSpc>
              <a:buNone/>
            </a:pPr>
            <a:r>
              <a:rPr lang="en-US" sz="700" b="1" dirty="0">
                <a:solidFill>
                  <a:srgbClr val="4C4C4D"/>
                </a:solidFill>
                <a:latin typeface="Heebo Bold" pitchFamily="34" charset="0"/>
                <a:ea typeface="Heebo Bold" pitchFamily="34" charset="-122"/>
                <a:cs typeface="Heebo Bold" pitchFamily="34" charset="-120"/>
              </a:rPr>
              <a:t>+0.57</a:t>
            </a:r>
            <a:endParaRPr lang="en-US" sz="7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98743" y="1410295"/>
            <a:ext cx="3594209" cy="479127"/>
          </a:xfrm>
          <a:prstGeom prst="rect">
            <a:avLst/>
          </a:prstGeom>
        </p:spPr>
      </p:pic>
      <p:sp>
        <p:nvSpPr>
          <p:cNvPr id="16" name="Text 9"/>
          <p:cNvSpPr/>
          <p:nvPr/>
        </p:nvSpPr>
        <p:spPr>
          <a:xfrm>
            <a:off x="4452429" y="1513185"/>
            <a:ext cx="3337635"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Thailand — Rainfall</a:t>
            </a:r>
            <a:endParaRPr lang="en-US" sz="850" dirty="0"/>
          </a:p>
        </p:txBody>
      </p:sp>
      <p:sp>
        <p:nvSpPr>
          <p:cNvPr id="17" name="Text 10"/>
          <p:cNvSpPr/>
          <p:nvPr/>
        </p:nvSpPr>
        <p:spPr>
          <a:xfrm>
            <a:off x="4452429" y="1679972"/>
            <a:ext cx="3337635"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Same mo, r = </a:t>
            </a:r>
            <a:pPr algn="l" indent="0" marL="0">
              <a:lnSpc>
                <a:spcPct val="98000"/>
              </a:lnSpc>
              <a:buNone/>
            </a:pPr>
            <a:r>
              <a:rPr lang="en-US" sz="700" b="1" dirty="0">
                <a:solidFill>
                  <a:srgbClr val="4C4C4D"/>
                </a:solidFill>
                <a:latin typeface="Heebo Bold" pitchFamily="34" charset="0"/>
                <a:ea typeface="Heebo Bold" pitchFamily="34" charset="-122"/>
                <a:cs typeface="Heebo Bold" pitchFamily="34" charset="-120"/>
              </a:rPr>
              <a:t>+0.48</a:t>
            </a:r>
            <a:endParaRPr lang="en-US" sz="700" dirty="0"/>
          </a:p>
        </p:txBody>
      </p:sp>
      <p:sp>
        <p:nvSpPr>
          <p:cNvPr id="18" name="Text 11"/>
          <p:cNvSpPr/>
          <p:nvPr/>
        </p:nvSpPr>
        <p:spPr>
          <a:xfrm>
            <a:off x="661475" y="1980902"/>
            <a:ext cx="6987603" cy="140990"/>
          </a:xfrm>
          <a:prstGeom prst="rect">
            <a:avLst/>
          </a:prstGeom>
          <a:noFill/>
          <a:ln/>
        </p:spPr>
        <p:txBody>
          <a:bodyPr wrap="none" lIns="0" tIns="0" rIns="0" bIns="0" rtlCol="0" anchor="t"/>
          <a:lstStyle/>
          <a:p>
            <a:pPr algn="l" indent="0" marL="0">
              <a:lnSpc>
                <a:spcPct val="104000"/>
              </a:lnSpc>
              <a:buNone/>
            </a:pPr>
            <a:r>
              <a:rPr lang="en-US" sz="850" dirty="0">
                <a:solidFill>
                  <a:srgbClr val="152D47"/>
                </a:solidFill>
                <a:latin typeface="Crimson Pro SemiBold" pitchFamily="34" charset="0"/>
                <a:ea typeface="Crimson Pro SemiBold" pitchFamily="34" charset="-122"/>
                <a:cs typeface="Crimson Pro SemiBold" pitchFamily="34" charset="-120"/>
              </a:rPr>
              <a:t>Correlation by predictor and lag</a:t>
            </a:r>
            <a:endParaRPr lang="en-US" sz="850" dirty="0"/>
          </a:p>
        </p:txBody>
      </p:sp>
      <p:pic>
        <p:nvPicPr>
          <p:cNvPr id="19" name="Image 5" descr="preencoded.png">    </p:cNvPr>
          <p:cNvPicPr>
            <a:picLocks noChangeAspect="1"/>
          </p:cNvPicPr>
          <p:nvPr/>
        </p:nvPicPr>
        <p:blipFill>
          <a:blip r:embed="rId11"/>
          <a:stretch>
            <a:fillRect/>
          </a:stretch>
        </p:blipFill>
        <p:spPr>
          <a:xfrm>
            <a:off x="2244074" y="2170311"/>
            <a:ext cx="3822307" cy="3654127"/>
          </a:xfrm>
          <a:prstGeom prst="rect">
            <a:avLst/>
          </a:prstGeom>
        </p:spPr>
      </p:pic>
      <p:sp>
        <p:nvSpPr>
          <p:cNvPr id="20" name="Text 12"/>
          <p:cNvSpPr/>
          <p:nvPr/>
        </p:nvSpPr>
        <p:spPr>
          <a:xfrm>
            <a:off x="7875490" y="2671663"/>
            <a:ext cx="3660981" cy="140990"/>
          </a:xfrm>
          <a:prstGeom prst="rect">
            <a:avLst/>
          </a:prstGeom>
          <a:noFill/>
          <a:ln/>
        </p:spPr>
        <p:txBody>
          <a:bodyPr wrap="none" lIns="0" tIns="0" rIns="0" bIns="0" rtlCol="0" anchor="t"/>
          <a:lstStyle/>
          <a:p>
            <a:pPr algn="l" indent="0" marL="0">
              <a:lnSpc>
                <a:spcPct val="104000"/>
              </a:lnSpc>
              <a:buNone/>
            </a:pPr>
            <a:r>
              <a:rPr lang="en-US" sz="850" dirty="0">
                <a:solidFill>
                  <a:srgbClr val="152D47"/>
                </a:solidFill>
                <a:latin typeface="Crimson Pro SemiBold" pitchFamily="34" charset="0"/>
                <a:ea typeface="Crimson Pro SemiBold" pitchFamily="34" charset="-122"/>
                <a:cs typeface="Crimson Pro SemiBold" pitchFamily="34" charset="-120"/>
              </a:rPr>
              <a:t>Temperature (lag 2) vs cases, Indonesia</a:t>
            </a:r>
            <a:endParaRPr lang="en-US" sz="850" dirty="0"/>
          </a:p>
        </p:txBody>
      </p:sp>
      <p:pic>
        <p:nvPicPr>
          <p:cNvPr id="21" name="Image 6" descr="preencoded.png">    </p:cNvPr>
          <p:cNvPicPr>
            <a:picLocks noChangeAspect="1"/>
          </p:cNvPicPr>
          <p:nvPr/>
        </p:nvPicPr>
        <p:blipFill>
          <a:blip r:embed="rId12"/>
          <a:stretch>
            <a:fillRect/>
          </a:stretch>
        </p:blipFill>
        <p:spPr>
          <a:xfrm>
            <a:off x="8516129" y="2861072"/>
            <a:ext cx="2379603" cy="2272506"/>
          </a:xfrm>
          <a:prstGeom prst="rect">
            <a:avLst/>
          </a:prstGeom>
        </p:spPr>
      </p:pic>
      <p:sp>
        <p:nvSpPr>
          <p:cNvPr id="22" name="Text 13"/>
          <p:cNvSpPr/>
          <p:nvPr/>
        </p:nvSpPr>
        <p:spPr>
          <a:xfrm>
            <a:off x="661475" y="5921276"/>
            <a:ext cx="10868745" cy="416520"/>
          </a:xfrm>
          <a:prstGeom prst="rect">
            <a:avLst/>
          </a:prstGeom>
          <a:noFill/>
          <a:ln/>
        </p:spPr>
        <p:txBody>
          <a:bodyPr wrap="square" lIns="0" tIns="0" rIns="0" bIns="0" rtlCol="0" anchor="t"/>
          <a:lstStyle/>
          <a:p>
            <a:pPr algn="l" indent="0" marL="0">
              <a:lnSpc>
                <a:spcPct val="98000"/>
              </a:lnSpc>
              <a:spcAft>
                <a:spcPts val="350"/>
              </a:spcAft>
              <a:buNone/>
            </a:pPr>
            <a:r>
              <a:rPr lang="en-US" sz="700" b="1" dirty="0">
                <a:solidFill>
                  <a:srgbClr val="4C4C4D"/>
                </a:solidFill>
                <a:latin typeface="Heebo Bold" pitchFamily="34" charset="0"/>
                <a:ea typeface="Heebo Bold" pitchFamily="34" charset="-122"/>
                <a:cs typeface="Heebo Bold" pitchFamily="34" charset="-120"/>
              </a:rPr>
              <a:t>The lag is the opportunity:</a:t>
            </a:r>
            <a:pPr algn="l" indent="0" marL="0">
              <a:lnSpc>
                <a:spcPct val="98000"/>
              </a:lnSpc>
              <a:spcAft>
                <a:spcPts val="350"/>
              </a:spcAft>
              <a:buNone/>
            </a:pPr>
            <a:r>
              <a:rPr lang="en-US" sz="700" dirty="0">
                <a:solidFill>
                  <a:srgbClr val="4C4C4D"/>
                </a:solidFill>
                <a:latin typeface="Heebo" pitchFamily="34" charset="0"/>
                <a:ea typeface="Heebo" pitchFamily="34" charset="-122"/>
                <a:cs typeface="Heebo" pitchFamily="34" charset="-120"/>
              </a:rPr>
              <a:t> it is the time a health office has to act.</a:t>
            </a:r>
            <a:endParaRPr lang="en-US" sz="700" dirty="0"/>
          </a:p>
          <a:p>
            <a:pPr algn="l" indent="0" marL="0">
              <a:lnSpc>
                <a:spcPct val="98000"/>
              </a:lnSpc>
              <a:spcAft>
                <a:spcPts val="350"/>
              </a:spcAft>
              <a:buNone/>
            </a:pPr>
            <a:r>
              <a:rPr lang="en-US" sz="700" dirty="0">
                <a:solidFill>
                  <a:srgbClr val="4C4C4D"/>
                </a:solidFill>
                <a:latin typeface="Heebo" pitchFamily="34" charset="0"/>
                <a:ea typeface="Heebo" pitchFamily="34" charset="-122"/>
                <a:cs typeface="Heebo" pitchFamily="34" charset="-120"/>
              </a:rPr>
              <a:t>Every predictor peaks at a lag of one month or more, so none of them is a coincident symptom. The best one, ONI, is also the one published earliest and freely.</a:t>
            </a:r>
            <a:endParaRPr lang="en-US" sz="700" dirty="0"/>
          </a:p>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Source: monthly national series, 2010+ (n = 172 months, Indonesia).</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51160"/>
            <a:ext cx="10868745" cy="256084"/>
          </a:xfrm>
          <a:prstGeom prst="rect">
            <a:avLst/>
          </a:prstGeom>
          <a:noFill/>
          <a:ln/>
        </p:spPr>
        <p:txBody>
          <a:bodyPr wrap="none" lIns="0" tIns="0" rIns="0" bIns="0" rtlCol="0" anchor="t"/>
          <a:lstStyle/>
          <a:p>
            <a:pPr algn="l" indent="0" marL="0">
              <a:lnSpc>
                <a:spcPct val="104000"/>
              </a:lnSpc>
              <a:buNone/>
            </a:pPr>
            <a:r>
              <a:rPr lang="en-US" sz="1600" dirty="0">
                <a:solidFill>
                  <a:srgbClr val="152D47"/>
                </a:solidFill>
                <a:latin typeface="Crimson Pro SemiBold" pitchFamily="34" charset="0"/>
                <a:ea typeface="Crimson Pro SemiBold" pitchFamily="34" charset="-122"/>
                <a:cs typeface="Crimson Pro SemiBold" pitchFamily="34" charset="-120"/>
              </a:rPr>
              <a:t>Analysis 3 · The strongest signal: A strong El Niño nearly triples Indonesia's monthly dengue burden</a:t>
            </a:r>
            <a:endParaRPr lang="en-US" sz="1600" dirty="0"/>
          </a:p>
        </p:txBody>
      </p:sp>
      <p:sp>
        <p:nvSpPr>
          <p:cNvPr id="3" name="Text 1"/>
          <p:cNvSpPr/>
          <p:nvPr/>
        </p:nvSpPr>
        <p:spPr>
          <a:xfrm>
            <a:off x="1338031" y="919262"/>
            <a:ext cx="4059037" cy="270470"/>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2.8×</a:t>
            </a:r>
            <a:endParaRPr lang="en-US" sz="2100" dirty="0"/>
          </a:p>
        </p:txBody>
      </p:sp>
      <p:sp>
        <p:nvSpPr>
          <p:cNvPr id="4" name="Text 2"/>
          <p:cNvSpPr/>
          <p:nvPr/>
        </p:nvSpPr>
        <p:spPr>
          <a:xfrm>
            <a:off x="661475" y="1257300"/>
            <a:ext cx="5412148" cy="128091"/>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Burden multiplier</a:t>
            </a:r>
            <a:endParaRPr lang="en-US" sz="800" dirty="0"/>
          </a:p>
        </p:txBody>
      </p:sp>
      <p:sp>
        <p:nvSpPr>
          <p:cNvPr id="5" name="Text 3"/>
          <p:cNvSpPr/>
          <p:nvPr/>
        </p:nvSpPr>
        <p:spPr>
          <a:xfrm>
            <a:off x="661475" y="1406624"/>
            <a:ext cx="5412148" cy="93960"/>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21,383 vs 7,597 cases per month, grouped by the ENSO phase four months earlier</a:t>
            </a:r>
            <a:endParaRPr lang="en-US" sz="600" dirty="0"/>
          </a:p>
        </p:txBody>
      </p:sp>
      <p:sp>
        <p:nvSpPr>
          <p:cNvPr id="6" name="Text 4"/>
          <p:cNvSpPr/>
          <p:nvPr/>
        </p:nvSpPr>
        <p:spPr>
          <a:xfrm>
            <a:off x="6794528" y="919262"/>
            <a:ext cx="4059136" cy="270470"/>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+0.56</a:t>
            </a:r>
            <a:endParaRPr lang="en-US" sz="2100" dirty="0"/>
          </a:p>
        </p:txBody>
      </p:sp>
      <p:sp>
        <p:nvSpPr>
          <p:cNvPr id="7" name="Text 5"/>
          <p:cNvSpPr/>
          <p:nvPr/>
        </p:nvSpPr>
        <p:spPr>
          <a:xfrm>
            <a:off x="6117923" y="1257300"/>
            <a:ext cx="5412247" cy="128091"/>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ONI correlation</a:t>
            </a:r>
            <a:endParaRPr lang="en-US" sz="800" dirty="0"/>
          </a:p>
        </p:txBody>
      </p:sp>
      <p:sp>
        <p:nvSpPr>
          <p:cNvPr id="8" name="Text 6"/>
          <p:cNvSpPr/>
          <p:nvPr/>
        </p:nvSpPr>
        <p:spPr>
          <a:xfrm>
            <a:off x="6117973" y="1406624"/>
            <a:ext cx="5412247" cy="93960"/>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With the seasonal cycle removed — not merely seasonality</a:t>
            </a:r>
            <a:endParaRPr lang="en-US" sz="600" dirty="0"/>
          </a:p>
        </p:txBody>
      </p:sp>
      <p:sp>
        <p:nvSpPr>
          <p:cNvPr id="9" name="Text 7"/>
          <p:cNvSpPr/>
          <p:nvPr/>
        </p:nvSpPr>
        <p:spPr>
          <a:xfrm>
            <a:off x="1338031" y="1612602"/>
            <a:ext cx="4059037" cy="270470"/>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33/34</a:t>
            </a:r>
            <a:endParaRPr lang="en-US" sz="2100" dirty="0"/>
          </a:p>
        </p:txBody>
      </p:sp>
      <p:sp>
        <p:nvSpPr>
          <p:cNvPr id="10" name="Text 8"/>
          <p:cNvSpPr/>
          <p:nvPr/>
        </p:nvSpPr>
        <p:spPr>
          <a:xfrm>
            <a:off x="661475" y="1950641"/>
            <a:ext cx="5412148" cy="128091"/>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Indonesian provinces</a:t>
            </a:r>
            <a:endParaRPr lang="en-US" sz="800" dirty="0"/>
          </a:p>
        </p:txBody>
      </p:sp>
      <p:sp>
        <p:nvSpPr>
          <p:cNvPr id="11" name="Text 9"/>
          <p:cNvSpPr/>
          <p:nvPr/>
        </p:nvSpPr>
        <p:spPr>
          <a:xfrm>
            <a:off x="661475" y="2099965"/>
            <a:ext cx="5412148" cy="93960"/>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Cases run higher in El Niño months (sign test p = 2×10⁻⁹)</a:t>
            </a:r>
            <a:endParaRPr lang="en-US" sz="600" dirty="0"/>
          </a:p>
        </p:txBody>
      </p:sp>
      <p:sp>
        <p:nvSpPr>
          <p:cNvPr id="12" name="Text 10"/>
          <p:cNvSpPr/>
          <p:nvPr/>
        </p:nvSpPr>
        <p:spPr>
          <a:xfrm>
            <a:off x="6794528" y="1612602"/>
            <a:ext cx="4059136" cy="270470"/>
          </a:xfrm>
          <a:prstGeom prst="rect">
            <a:avLst/>
          </a:prstGeom>
          <a:noFill/>
          <a:ln/>
        </p:spPr>
        <p:txBody>
          <a:bodyPr wrap="none" lIns="0" tIns="0" rIns="0" bIns="0" rtlCol="0" anchor="t"/>
          <a:lstStyle/>
          <a:p>
            <a:pPr algn="ctr" indent="0" marL="0">
              <a:lnSpc>
                <a:spcPct val="83000"/>
              </a:lnSpc>
              <a:buNone/>
            </a:pPr>
            <a:r>
              <a:rPr lang="en-US" sz="2100" dirty="0">
                <a:solidFill>
                  <a:srgbClr val="4C4C4D"/>
                </a:solidFill>
                <a:latin typeface="Crimson Pro SemiBold" pitchFamily="34" charset="0"/>
                <a:ea typeface="Crimson Pro SemiBold" pitchFamily="34" charset="-122"/>
                <a:cs typeface="Crimson Pro SemiBold" pitchFamily="34" charset="-120"/>
              </a:rPr>
              <a:t>70/77</a:t>
            </a:r>
            <a:endParaRPr lang="en-US" sz="2100" dirty="0"/>
          </a:p>
        </p:txBody>
      </p:sp>
      <p:sp>
        <p:nvSpPr>
          <p:cNvPr id="13" name="Text 11"/>
          <p:cNvSpPr/>
          <p:nvPr/>
        </p:nvSpPr>
        <p:spPr>
          <a:xfrm>
            <a:off x="6117923" y="1950641"/>
            <a:ext cx="5412247" cy="128091"/>
          </a:xfrm>
          <a:prstGeom prst="rect">
            <a:avLst/>
          </a:prstGeom>
          <a:noFill/>
          <a:ln/>
        </p:spPr>
        <p:txBody>
          <a:bodyPr wrap="none" lIns="0" tIns="0" rIns="0" bIns="0" rtlCol="0" anchor="t"/>
          <a:lstStyle/>
          <a:p>
            <a:pPr algn="ctr" indent="0" marL="0">
              <a:lnSpc>
                <a:spcPct val="104000"/>
              </a:lnSpc>
              <a:buNone/>
            </a:pPr>
            <a:r>
              <a:rPr lang="en-US" sz="800" dirty="0">
                <a:solidFill>
                  <a:srgbClr val="4C4C4D"/>
                </a:solidFill>
                <a:latin typeface="Crimson Pro SemiBold" pitchFamily="34" charset="0"/>
                <a:ea typeface="Crimson Pro SemiBold" pitchFamily="34" charset="-122"/>
                <a:cs typeface="Crimson Pro SemiBold" pitchFamily="34" charset="-120"/>
              </a:rPr>
              <a:t>Thai provinces</a:t>
            </a:r>
            <a:endParaRPr lang="en-US" sz="800" dirty="0"/>
          </a:p>
        </p:txBody>
      </p:sp>
      <p:sp>
        <p:nvSpPr>
          <p:cNvPr id="14" name="Text 12"/>
          <p:cNvSpPr/>
          <p:nvPr/>
        </p:nvSpPr>
        <p:spPr>
          <a:xfrm>
            <a:off x="6117973" y="2099965"/>
            <a:ext cx="5412247" cy="93960"/>
          </a:xfrm>
          <a:prstGeom prst="rect">
            <a:avLst/>
          </a:prstGeom>
          <a:noFill/>
          <a:ln/>
        </p:spPr>
        <p:txBody>
          <a:bodyPr wrap="none" lIns="0" tIns="0" rIns="0" bIns="0" rtlCol="0" anchor="t"/>
          <a:lstStyle/>
          <a:p>
            <a:pPr algn="ctr" indent="0" marL="0">
              <a:lnSpc>
                <a:spcPct val="96000"/>
              </a:lnSpc>
              <a:buNone/>
            </a:pPr>
            <a:r>
              <a:rPr lang="en-US" sz="600" dirty="0">
                <a:solidFill>
                  <a:srgbClr val="4C4C4D"/>
                </a:solidFill>
                <a:latin typeface="Heebo" pitchFamily="34" charset="0"/>
                <a:ea typeface="Heebo" pitchFamily="34" charset="-122"/>
                <a:cs typeface="Heebo" pitchFamily="34" charset="-120"/>
              </a:rPr>
              <a:t>Cases run higher in El Niño months</a:t>
            </a:r>
            <a:endParaRPr lang="en-US" sz="600" dirty="0"/>
          </a:p>
        </p:txBody>
      </p:sp>
      <p:sp>
        <p:nvSpPr>
          <p:cNvPr id="15" name="Text 13"/>
          <p:cNvSpPr/>
          <p:nvPr/>
        </p:nvSpPr>
        <p:spPr>
          <a:xfrm>
            <a:off x="661475" y="2233811"/>
            <a:ext cx="11478330" cy="93960"/>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The grouping uses the ENSO phase four months earlier, so this is a forecast rather than hindsight. Rainfall does not survive the same test, falling from +0.40 to +0.24, and we report that.</a:t>
            </a:r>
            <a:endParaRPr lang="en-US" sz="600" dirty="0"/>
          </a:p>
        </p:txBody>
      </p:sp>
      <p:sp>
        <p:nvSpPr>
          <p:cNvPr id="16" name="Text 14"/>
          <p:cNvSpPr/>
          <p:nvPr/>
        </p:nvSpPr>
        <p:spPr>
          <a:xfrm>
            <a:off x="661475" y="2403177"/>
            <a:ext cx="6994747" cy="128091"/>
          </a:xfrm>
          <a:prstGeom prst="rect">
            <a:avLst/>
          </a:prstGeom>
          <a:noFill/>
          <a:ln/>
        </p:spPr>
        <p:txBody>
          <a:bodyPr wrap="none" lIns="0" tIns="0" rIns="0" bIns="0" rtlCol="0" anchor="t"/>
          <a:lstStyle/>
          <a:p>
            <a:pPr algn="l" indent="0" marL="0">
              <a:lnSpc>
                <a:spcPct val="104000"/>
              </a:lnSpc>
              <a:buNone/>
            </a:pPr>
            <a:r>
              <a:rPr lang="en-US" sz="800" dirty="0">
                <a:solidFill>
                  <a:srgbClr val="152D47"/>
                </a:solidFill>
                <a:latin typeface="Crimson Pro SemiBold" pitchFamily="34" charset="0"/>
                <a:ea typeface="Crimson Pro SemiBold" pitchFamily="34" charset="-122"/>
                <a:cs typeface="Crimson Pro SemiBold" pitchFamily="34" charset="-120"/>
              </a:rPr>
              <a:t>Mean monthly cases by ENSO phase (lag 4)</a:t>
            </a:r>
            <a:endParaRPr lang="en-US" sz="800" dirty="0"/>
          </a:p>
        </p:txBody>
      </p:sp>
      <p:pic>
        <p:nvPicPr>
          <p:cNvPr id="17" name="Image 0" descr="preencoded.png">    </p:cNvPr>
          <p:cNvPicPr>
            <a:picLocks noChangeAspect="1"/>
          </p:cNvPicPr>
          <p:nvPr/>
        </p:nvPicPr>
        <p:blipFill>
          <a:blip r:embed="rId1"/>
          <a:stretch>
            <a:fillRect/>
          </a:stretch>
        </p:blipFill>
        <p:spPr>
          <a:xfrm>
            <a:off x="2916760" y="2571155"/>
            <a:ext cx="2484177" cy="3319661"/>
          </a:xfrm>
          <a:prstGeom prst="rect">
            <a:avLst/>
          </a:prstGeom>
        </p:spPr>
      </p:pic>
      <p:sp>
        <p:nvSpPr>
          <p:cNvPr id="18" name="Text 15"/>
          <p:cNvSpPr/>
          <p:nvPr/>
        </p:nvSpPr>
        <p:spPr>
          <a:xfrm>
            <a:off x="7862393" y="2745780"/>
            <a:ext cx="3674177" cy="128091"/>
          </a:xfrm>
          <a:prstGeom prst="rect">
            <a:avLst/>
          </a:prstGeom>
          <a:noFill/>
          <a:ln/>
        </p:spPr>
        <p:txBody>
          <a:bodyPr wrap="none" lIns="0" tIns="0" rIns="0" bIns="0" rtlCol="0" anchor="t"/>
          <a:lstStyle/>
          <a:p>
            <a:pPr algn="l" indent="0" marL="0">
              <a:lnSpc>
                <a:spcPct val="104000"/>
              </a:lnSpc>
              <a:buNone/>
            </a:pPr>
            <a:r>
              <a:rPr lang="en-US" sz="800" dirty="0">
                <a:solidFill>
                  <a:srgbClr val="152D47"/>
                </a:solidFill>
                <a:latin typeface="Crimson Pro SemiBold" pitchFamily="34" charset="0"/>
                <a:ea typeface="Crimson Pro SemiBold" pitchFamily="34" charset="-122"/>
                <a:cs typeface="Crimson Pro SemiBold" pitchFamily="34" charset="-120"/>
              </a:rPr>
              <a:t>Same signal, seasonality removed</a:t>
            </a:r>
            <a:endParaRPr lang="en-US" sz="800" dirty="0"/>
          </a:p>
        </p:txBody>
      </p:sp>
      <p:pic>
        <p:nvPicPr>
          <p:cNvPr id="19" name="Image 1" descr="preencoded.png">    </p:cNvPr>
          <p:cNvPicPr>
            <a:picLocks noChangeAspect="1"/>
          </p:cNvPicPr>
          <p:nvPr/>
        </p:nvPicPr>
        <p:blipFill>
          <a:blip r:embed="rId2"/>
          <a:stretch>
            <a:fillRect/>
          </a:stretch>
        </p:blipFill>
        <p:spPr>
          <a:xfrm>
            <a:off x="8321665" y="2913757"/>
            <a:ext cx="2755633" cy="2634357"/>
          </a:xfrm>
          <a:prstGeom prst="rect">
            <a:avLst/>
          </a:prstGeom>
        </p:spPr>
      </p:pic>
      <p:sp>
        <p:nvSpPr>
          <p:cNvPr id="20" name="Shape 16"/>
          <p:cNvSpPr/>
          <p:nvPr/>
        </p:nvSpPr>
        <p:spPr>
          <a:xfrm>
            <a:off x="661475" y="5970588"/>
            <a:ext cx="10868745" cy="202307"/>
          </a:xfrm>
          <a:prstGeom prst="roundRect">
            <a:avLst>
              <a:gd name="adj" fmla="val 6077"/>
            </a:avLst>
          </a:prstGeom>
          <a:solidFill>
            <a:srgbClr val="CCD7FF"/>
          </a:solidFill>
          <a:ln/>
        </p:spPr>
      </p:sp>
      <p:pic>
        <p:nvPicPr>
          <p:cNvPr id="21" name="Image 2" descr="preencoded.png">    </p:cNvPr>
          <p:cNvPicPr>
            <a:picLocks noChangeAspect="1"/>
          </p:cNvPicPr>
          <p:nvPr/>
        </p:nvPicPr>
        <p:blipFill>
          <a:blip r:embed="rId3"/>
          <a:stretch>
            <a:fillRect/>
          </a:stretch>
        </p:blipFill>
        <p:spPr>
          <a:xfrm>
            <a:off x="743427" y="6026547"/>
            <a:ext cx="102391" cy="81955"/>
          </a:xfrm>
          <a:prstGeom prst="rect">
            <a:avLst/>
          </a:prstGeom>
        </p:spPr>
      </p:pic>
      <p:sp>
        <p:nvSpPr>
          <p:cNvPr id="22" name="Text 17"/>
          <p:cNvSpPr/>
          <p:nvPr/>
        </p:nvSpPr>
        <p:spPr>
          <a:xfrm>
            <a:off x="927771" y="6026547"/>
            <a:ext cx="11130081" cy="93960"/>
          </a:xfrm>
          <a:prstGeom prst="rect">
            <a:avLst/>
          </a:prstGeom>
          <a:noFill/>
          <a:ln/>
        </p:spPr>
        <p:txBody>
          <a:bodyPr wrap="none" lIns="0" tIns="0" rIns="0" bIns="0" rtlCol="0" anchor="t"/>
          <a:lstStyle/>
          <a:p>
            <a:pPr algn="l" indent="0" marL="0">
              <a:lnSpc>
                <a:spcPct val="96000"/>
              </a:lnSpc>
              <a:buNone/>
            </a:pPr>
            <a:r>
              <a:rPr lang="en-US" sz="600" b="1" dirty="0">
                <a:solidFill>
                  <a:srgbClr val="000000"/>
                </a:solidFill>
                <a:latin typeface="Heebo Bold" pitchFamily="34" charset="0"/>
                <a:ea typeface="Heebo Bold" pitchFamily="34" charset="-122"/>
                <a:cs typeface="Heebo Bold" pitchFamily="34" charset="-120"/>
              </a:rPr>
              <a:t>Strong El Niño: 21,383 cases/month</a:t>
            </a:r>
            <a:endParaRPr lang="en-US" sz="600" dirty="0"/>
          </a:p>
        </p:txBody>
      </p:sp>
      <p:sp>
        <p:nvSpPr>
          <p:cNvPr id="23" name="Text 18"/>
          <p:cNvSpPr/>
          <p:nvPr/>
        </p:nvSpPr>
        <p:spPr>
          <a:xfrm>
            <a:off x="661475" y="6212780"/>
            <a:ext cx="11478330" cy="93960"/>
          </a:xfrm>
          <a:prstGeom prst="rect">
            <a:avLst/>
          </a:prstGeom>
          <a:noFill/>
          <a:ln/>
        </p:spPr>
        <p:txBody>
          <a:bodyPr wrap="none" lIns="0" tIns="0" rIns="0" bIns="0" rtlCol="0" anchor="t"/>
          <a:lstStyle/>
          <a:p>
            <a:pPr algn="l" indent="0" marL="0">
              <a:lnSpc>
                <a:spcPct val="96000"/>
              </a:lnSpc>
              <a:buNone/>
            </a:pPr>
            <a:r>
              <a:rPr lang="en-US" sz="600" dirty="0">
                <a:solidFill>
                  <a:srgbClr val="4C4C4D"/>
                </a:solidFill>
                <a:latin typeface="Heebo" pitchFamily="34" charset="0"/>
                <a:ea typeface="Heebo" pitchFamily="34" charset="-122"/>
                <a:cs typeface="Heebo" pitchFamily="34" charset="-120"/>
              </a:rPr>
              <a:t>Source: 172 months, Indonesia 2010–2024 · NOAA CPC definition: El Niño = ONI ≥ 0.5. We claim early-warning feasibility, not causation.</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68523"/>
            <a:ext cx="10868745" cy="298152"/>
          </a:xfrm>
          <a:prstGeom prst="rect">
            <a:avLst/>
          </a:prstGeom>
          <a:noFill/>
          <a:ln/>
        </p:spPr>
        <p:txBody>
          <a:bodyPr wrap="none" lIns="0" tIns="0" rIns="0" bIns="0" rtlCol="0" anchor="t"/>
          <a:lstStyle/>
          <a:p>
            <a:pPr algn="l" indent="0" marL="0">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Analysis 4 · Where and when: The alarm must be set province by province</a:t>
            </a:r>
            <a:endParaRPr lang="en-US" sz="1850" dirty="0"/>
          </a:p>
        </p:txBody>
      </p:sp>
      <p:sp>
        <p:nvSpPr>
          <p:cNvPr id="3" name="Shape 1"/>
          <p:cNvSpPr/>
          <p:nvPr/>
        </p:nvSpPr>
        <p:spPr>
          <a:xfrm>
            <a:off x="661475" y="962918"/>
            <a:ext cx="3590835" cy="597991"/>
          </a:xfrm>
          <a:prstGeom prst="roundRect">
            <a:avLst>
              <a:gd name="adj" fmla="val 2393"/>
            </a:avLst>
          </a:prstGeom>
          <a:solidFill>
            <a:srgbClr val="F2EEEE"/>
          </a:solidFill>
          <a:ln/>
        </p:spPr>
      </p:sp>
      <p:sp>
        <p:nvSpPr>
          <p:cNvPr id="4" name="Text 2"/>
          <p:cNvSpPr/>
          <p:nvPr/>
        </p:nvSpPr>
        <p:spPr>
          <a:xfrm>
            <a:off x="756822" y="1058267"/>
            <a:ext cx="3400142" cy="149027"/>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Indonesia</a:t>
            </a:r>
            <a:endParaRPr lang="en-US" sz="900" dirty="0"/>
          </a:p>
        </p:txBody>
      </p:sp>
      <p:sp>
        <p:nvSpPr>
          <p:cNvPr id="5" name="Text 3"/>
          <p:cNvSpPr/>
          <p:nvPr/>
        </p:nvSpPr>
        <p:spPr>
          <a:xfrm>
            <a:off x="756822" y="1236166"/>
            <a:ext cx="3400142" cy="229394"/>
          </a:xfrm>
          <a:prstGeom prst="rect">
            <a:avLst/>
          </a:prstGeom>
          <a:noFill/>
          <a:ln/>
        </p:spPr>
        <p:txBody>
          <a:bodyPr wrap="square" lIns="0" tIns="0" rIns="0" bIns="0" rtlCol="0" anchor="t">
            <a:normAutofit/>
          </a:bodyPr>
          <a:lstStyle/>
          <a:p>
            <a:pPr algn="l" indent="0" marL="0">
              <a:lnSpc>
                <a:spcPct val="100000"/>
              </a:lnSpc>
              <a:buNone/>
            </a:pPr>
            <a:r>
              <a:rPr lang="en-US" sz="750" dirty="0">
                <a:solidFill>
                  <a:srgbClr val="4C4C4D"/>
                </a:solidFill>
                <a:latin typeface="Heebo" pitchFamily="34" charset="0"/>
                <a:ea typeface="Heebo" pitchFamily="34" charset="-122"/>
                <a:cs typeface="Heebo" pitchFamily="34" charset="-120"/>
              </a:rPr>
              <a:t>20 of 35 provinces peak in January, 8 in February, but Bali peaks in May and North Kalimantan in December</a:t>
            </a:r>
            <a:endParaRPr lang="en-US" sz="750" dirty="0"/>
          </a:p>
        </p:txBody>
      </p:sp>
      <p:sp>
        <p:nvSpPr>
          <p:cNvPr id="6" name="Shape 4"/>
          <p:cNvSpPr/>
          <p:nvPr/>
        </p:nvSpPr>
        <p:spPr>
          <a:xfrm>
            <a:off x="4300430" y="962918"/>
            <a:ext cx="3590835" cy="597991"/>
          </a:xfrm>
          <a:prstGeom prst="roundRect">
            <a:avLst>
              <a:gd name="adj" fmla="val 2393"/>
            </a:avLst>
          </a:prstGeom>
          <a:solidFill>
            <a:srgbClr val="F2EEEE"/>
          </a:solidFill>
          <a:ln/>
        </p:spPr>
      </p:sp>
      <p:sp>
        <p:nvSpPr>
          <p:cNvPr id="7" name="Text 5"/>
          <p:cNvSpPr/>
          <p:nvPr/>
        </p:nvSpPr>
        <p:spPr>
          <a:xfrm>
            <a:off x="4395777" y="1058267"/>
            <a:ext cx="3400142" cy="149027"/>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Thailand</a:t>
            </a:r>
            <a:endParaRPr lang="en-US" sz="900" dirty="0"/>
          </a:p>
        </p:txBody>
      </p:sp>
      <p:sp>
        <p:nvSpPr>
          <p:cNvPr id="8" name="Text 6"/>
          <p:cNvSpPr/>
          <p:nvPr/>
        </p:nvSpPr>
        <p:spPr>
          <a:xfrm>
            <a:off x="4395777" y="1236166"/>
            <a:ext cx="3400142" cy="114697"/>
          </a:xfrm>
          <a:prstGeom prst="rect">
            <a:avLst/>
          </a:prstGeom>
          <a:noFill/>
          <a:ln/>
        </p:spPr>
        <p:txBody>
          <a:bodyPr wrap="none" lIns="0" tIns="0" rIns="0" bIns="0" rtlCol="0" anchor="t"/>
          <a:lstStyle/>
          <a:p>
            <a:pPr algn="l" indent="0" marL="0">
              <a:lnSpc>
                <a:spcPct val="100000"/>
              </a:lnSpc>
              <a:buNone/>
            </a:pPr>
            <a:r>
              <a:rPr lang="en-US" sz="750" dirty="0">
                <a:solidFill>
                  <a:srgbClr val="4C4C4D"/>
                </a:solidFill>
                <a:latin typeface="Heebo" pitchFamily="34" charset="0"/>
                <a:ea typeface="Heebo" pitchFamily="34" charset="-122"/>
                <a:cs typeface="Heebo" pitchFamily="34" charset="-120"/>
              </a:rPr>
              <a:t>38 of 77 provinces peak in July, 16 in August</a:t>
            </a:r>
            <a:endParaRPr lang="en-US" sz="750" dirty="0"/>
          </a:p>
        </p:txBody>
      </p:sp>
      <p:sp>
        <p:nvSpPr>
          <p:cNvPr id="9" name="Shape 7"/>
          <p:cNvSpPr/>
          <p:nvPr/>
        </p:nvSpPr>
        <p:spPr>
          <a:xfrm>
            <a:off x="7939385" y="962918"/>
            <a:ext cx="3590835" cy="597991"/>
          </a:xfrm>
          <a:prstGeom prst="roundRect">
            <a:avLst>
              <a:gd name="adj" fmla="val 2393"/>
            </a:avLst>
          </a:prstGeom>
          <a:solidFill>
            <a:srgbClr val="F2EEEE"/>
          </a:solidFill>
          <a:ln/>
        </p:spPr>
      </p:sp>
      <p:sp>
        <p:nvSpPr>
          <p:cNvPr id="10" name="Text 8"/>
          <p:cNvSpPr/>
          <p:nvPr/>
        </p:nvSpPr>
        <p:spPr>
          <a:xfrm>
            <a:off x="8034732" y="1058267"/>
            <a:ext cx="3400142" cy="149027"/>
          </a:xfrm>
          <a:prstGeom prst="rect">
            <a:avLst/>
          </a:prstGeom>
          <a:noFill/>
          <a:ln/>
        </p:spPr>
        <p:txBody>
          <a:bodyPr wrap="none" lIns="0" tIns="0" rIns="0" bIns="0" rtlCol="0" anchor="t"/>
          <a:lstStyle/>
          <a:p>
            <a:pPr algn="l"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The implication</a:t>
            </a:r>
            <a:endParaRPr lang="en-US" sz="900" dirty="0"/>
          </a:p>
        </p:txBody>
      </p:sp>
      <p:sp>
        <p:nvSpPr>
          <p:cNvPr id="11" name="Text 9"/>
          <p:cNvSpPr/>
          <p:nvPr/>
        </p:nvSpPr>
        <p:spPr>
          <a:xfrm>
            <a:off x="8034732" y="1236166"/>
            <a:ext cx="3400142" cy="114697"/>
          </a:xfrm>
          <a:prstGeom prst="rect">
            <a:avLst/>
          </a:prstGeom>
          <a:noFill/>
          <a:ln/>
        </p:spPr>
        <p:txBody>
          <a:bodyPr wrap="none" lIns="0" tIns="0" rIns="0" bIns="0" rtlCol="0" anchor="t"/>
          <a:lstStyle/>
          <a:p>
            <a:pPr algn="l" indent="0" marL="0">
              <a:lnSpc>
                <a:spcPct val="100000"/>
              </a:lnSpc>
              <a:buNone/>
            </a:pPr>
            <a:r>
              <a:rPr lang="en-US" sz="750" dirty="0">
                <a:solidFill>
                  <a:srgbClr val="4C4C4D"/>
                </a:solidFill>
                <a:latin typeface="Heebo" pitchFamily="34" charset="0"/>
                <a:ea typeface="Heebo" pitchFamily="34" charset="-122"/>
                <a:cs typeface="Heebo" pitchFamily="34" charset="-120"/>
              </a:rPr>
              <a:t>A single national alert date would be wrong for a third of Indonesia</a:t>
            </a:r>
            <a:endParaRPr lang="en-US" sz="750" dirty="0"/>
          </a:p>
        </p:txBody>
      </p:sp>
      <p:sp>
        <p:nvSpPr>
          <p:cNvPr id="12" name="Text 10"/>
          <p:cNvSpPr/>
          <p:nvPr/>
        </p:nvSpPr>
        <p:spPr>
          <a:xfrm>
            <a:off x="661475" y="1663105"/>
            <a:ext cx="6983139" cy="149027"/>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Indonesia: share of annual cases by month</a:t>
            </a:r>
            <a:endParaRPr lang="en-US" sz="900" dirty="0"/>
          </a:p>
        </p:txBody>
      </p:sp>
      <p:pic>
        <p:nvPicPr>
          <p:cNvPr id="13" name="Image 0" descr="preencoded.png">    </p:cNvPr>
          <p:cNvPicPr>
            <a:picLocks noChangeAspect="1"/>
          </p:cNvPicPr>
          <p:nvPr/>
        </p:nvPicPr>
        <p:blipFill>
          <a:blip r:embed="rId1"/>
          <a:stretch>
            <a:fillRect/>
          </a:stretch>
        </p:blipFill>
        <p:spPr>
          <a:xfrm>
            <a:off x="2092868" y="1866205"/>
            <a:ext cx="4120352" cy="3862884"/>
          </a:xfrm>
          <a:prstGeom prst="rect">
            <a:avLst/>
          </a:prstGeom>
        </p:spPr>
      </p:pic>
      <p:sp>
        <p:nvSpPr>
          <p:cNvPr id="14" name="Text 11"/>
          <p:cNvSpPr/>
          <p:nvPr/>
        </p:nvSpPr>
        <p:spPr>
          <a:xfrm>
            <a:off x="7883725" y="1999952"/>
            <a:ext cx="3652746" cy="149027"/>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Thailand: share of annual cases by month</a:t>
            </a:r>
            <a:endParaRPr lang="en-US" sz="900" dirty="0"/>
          </a:p>
        </p:txBody>
      </p:sp>
      <p:pic>
        <p:nvPicPr>
          <p:cNvPr id="15" name="Image 1" descr="preencoded.png">    </p:cNvPr>
          <p:cNvPicPr>
            <a:picLocks noChangeAspect="1"/>
          </p:cNvPicPr>
          <p:nvPr/>
        </p:nvPicPr>
        <p:blipFill>
          <a:blip r:embed="rId2"/>
          <a:stretch>
            <a:fillRect/>
          </a:stretch>
        </p:blipFill>
        <p:spPr>
          <a:xfrm>
            <a:off x="7975004" y="2203053"/>
            <a:ext cx="3470089" cy="3189089"/>
          </a:xfrm>
          <a:prstGeom prst="rect">
            <a:avLst/>
          </a:prstGeom>
        </p:spPr>
      </p:pic>
      <p:sp>
        <p:nvSpPr>
          <p:cNvPr id="16" name="Text 12"/>
          <p:cNvSpPr/>
          <p:nvPr/>
        </p:nvSpPr>
        <p:spPr>
          <a:xfrm>
            <a:off x="661475" y="5837238"/>
            <a:ext cx="10868745" cy="452239"/>
          </a:xfrm>
          <a:prstGeom prst="rect">
            <a:avLst/>
          </a:prstGeom>
          <a:noFill/>
          <a:ln/>
        </p:spPr>
        <p:txBody>
          <a:bodyPr wrap="square" lIns="0" tIns="0" rIns="0" bIns="0" rtlCol="0" anchor="t"/>
          <a:lstStyle/>
          <a:p>
            <a:pPr algn="l" indent="0" marL="0">
              <a:lnSpc>
                <a:spcPct val="100000"/>
              </a:lnSpc>
              <a:spcAft>
                <a:spcPts val="400"/>
              </a:spcAft>
              <a:buNone/>
            </a:pPr>
            <a:r>
              <a:rPr lang="en-US" sz="750" dirty="0">
                <a:solidFill>
                  <a:srgbClr val="4C4C4D"/>
                </a:solidFill>
                <a:latin typeface="Heebo" pitchFamily="34" charset="0"/>
                <a:ea typeface="Heebo" pitchFamily="34" charset="-122"/>
                <a:cs typeface="Heebo" pitchFamily="34" charset="-120"/>
              </a:rPr>
              <a:t>Same colour scale, same twelve rows. Only the calendar moves.</a:t>
            </a:r>
            <a:endParaRPr lang="en-US" sz="750" dirty="0"/>
          </a:p>
          <a:p>
            <a:pPr algn="l" indent="0" marL="0">
              <a:lnSpc>
                <a:spcPct val="100000"/>
              </a:lnSpc>
              <a:spcAft>
                <a:spcPts val="400"/>
              </a:spcAft>
              <a:buNone/>
            </a:pPr>
            <a:r>
              <a:rPr lang="en-US" sz="750" dirty="0">
                <a:solidFill>
                  <a:srgbClr val="4C4C4D"/>
                </a:solidFill>
                <a:latin typeface="Heebo" pitchFamily="34" charset="0"/>
                <a:ea typeface="Heebo" pitchFamily="34" charset="-122"/>
                <a:cs typeface="Heebo" pitchFamily="34" charset="-120"/>
              </a:rPr>
              <a:t>This is why the rule carries a month condition as well as a climate one. The index says how bad; the province's own calendar says when.</a:t>
            </a:r>
            <a:endParaRPr lang="en-US" sz="750" dirty="0"/>
          </a:p>
          <a:p>
            <a:pPr algn="l" indent="0" marL="0">
              <a:lnSpc>
                <a:spcPct val="100000"/>
              </a:lnSpc>
              <a:buNone/>
            </a:pPr>
            <a:r>
              <a:rPr lang="en-US" sz="750" dirty="0">
                <a:solidFill>
                  <a:srgbClr val="4C4C4D"/>
                </a:solidFill>
                <a:latin typeface="Heebo" pitchFamily="34" charset="0"/>
                <a:ea typeface="Heebo" pitchFamily="34" charset="-122"/>
                <a:cs typeface="Heebo" pitchFamily="34" charset="-120"/>
              </a:rPr>
              <a:t>Source: share of annual cases by calendar month, per province.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636389"/>
            <a:ext cx="10868745" cy="1004094"/>
          </a:xfrm>
          <a:prstGeom prst="rect">
            <a:avLst/>
          </a:prstGeom>
          <a:noFill/>
          <a:ln/>
        </p:spPr>
        <p:txBody>
          <a:bodyPr wrap="square" lIns="0" tIns="0" rIns="0" bIns="0" rtlCol="0" anchor="t">
            <a:normAutofit/>
          </a:bodyPr>
          <a:lstStyle/>
          <a:p>
            <a:pPr algn="l" indent="0" marL="0">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Analysis 5 · Who is hit hardest: The same alarm, aimed at the most exposed places</a:t>
            </a:r>
            <a:endParaRPr lang="en-US" sz="31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13533"/>
            <a:ext cx="3531901" cy="1643162"/>
          </a:xfrm>
          <a:prstGeom prst="rect">
            <a:avLst/>
          </a:prstGeom>
        </p:spPr>
      </p:pic>
      <p:sp>
        <p:nvSpPr>
          <p:cNvPr id="4" name="Text 1"/>
          <p:cNvSpPr/>
          <p:nvPr/>
        </p:nvSpPr>
        <p:spPr>
          <a:xfrm>
            <a:off x="917354" y="2093218"/>
            <a:ext cx="3096341"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Highest incidence 2018–2020</a:t>
            </a:r>
            <a:endParaRPr lang="en-US" sz="1550" dirty="0"/>
          </a:p>
        </p:txBody>
      </p:sp>
      <p:sp>
        <p:nvSpPr>
          <p:cNvPr id="5" name="Text 2"/>
          <p:cNvSpPr/>
          <p:nvPr/>
        </p:nvSpPr>
        <p:spPr>
          <a:xfrm>
            <a:off x="917354" y="2426097"/>
            <a:ext cx="3096341" cy="7131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Bali 134, North Kalimantan 115, East Kalimantan 112 per 100k — that is 14× the lowest province (Papua, 9)</a:t>
            </a:r>
            <a:endParaRPr lang="en-US" sz="12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9897" y="1913533"/>
            <a:ext cx="3531901" cy="1643162"/>
          </a:xfrm>
          <a:prstGeom prst="rect">
            <a:avLst/>
          </a:prstGeom>
        </p:spPr>
      </p:pic>
      <p:sp>
        <p:nvSpPr>
          <p:cNvPr id="7" name="Text 3"/>
          <p:cNvSpPr/>
          <p:nvPr/>
        </p:nvSpPr>
        <p:spPr>
          <a:xfrm>
            <a:off x="4585776" y="2093218"/>
            <a:ext cx="3096341"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Water storage risk</a:t>
            </a:r>
            <a:endParaRPr lang="en-US" sz="1550" dirty="0"/>
          </a:p>
        </p:txBody>
      </p:sp>
      <p:sp>
        <p:nvSpPr>
          <p:cNvPr id="8" name="Text 4"/>
          <p:cNvSpPr/>
          <p:nvPr/>
        </p:nvSpPr>
        <p:spPr>
          <a:xfrm>
            <a:off x="4585776" y="2426097"/>
            <a:ext cx="3096341" cy="950912"/>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Indonesia has the lowest piped-water access in ASEAN at 21.8% (JMP 2024). Households therefore store water, and stored water breeds Aedes</a:t>
            </a:r>
            <a:endParaRPr lang="en-US" sz="12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98319" y="1913533"/>
            <a:ext cx="3531901" cy="1643162"/>
          </a:xfrm>
          <a:prstGeom prst="rect">
            <a:avLst/>
          </a:prstGeom>
        </p:spPr>
      </p:pic>
      <p:sp>
        <p:nvSpPr>
          <p:cNvPr id="10" name="Text 5"/>
          <p:cNvSpPr/>
          <p:nvPr/>
        </p:nvSpPr>
        <p:spPr>
          <a:xfrm>
            <a:off x="8254198" y="2093218"/>
            <a:ext cx="3096341"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Flood-zone exposure</a:t>
            </a:r>
            <a:endParaRPr lang="en-US" sz="1550" dirty="0"/>
          </a:p>
        </p:txBody>
      </p:sp>
      <p:sp>
        <p:nvSpPr>
          <p:cNvPr id="11" name="Text 6"/>
          <p:cNvSpPr/>
          <p:nvPr/>
        </p:nvSpPr>
        <p:spPr>
          <a:xfrm>
            <a:off x="8254198" y="2426097"/>
            <a:ext cx="3096341" cy="7131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12.9 million people in Bangkok and 1.7 million in Jakarta live in the 1-in-100-year flood zone</a:t>
            </a:r>
            <a:endParaRPr lang="en-US" sz="1250" dirty="0"/>
          </a:p>
        </p:txBody>
      </p:sp>
      <p:sp>
        <p:nvSpPr>
          <p:cNvPr id="12" name="Text 7"/>
          <p:cNvSpPr/>
          <p:nvPr/>
        </p:nvSpPr>
        <p:spPr>
          <a:xfrm>
            <a:off x="661475" y="3710285"/>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We use these three layers to target the alarm, not to explain the disease. The one place we tried to explain it, the claim failed (p. 14).</a:t>
            </a:r>
            <a:endParaRPr lang="en-US" sz="1250" dirty="0"/>
          </a:p>
        </p:txBody>
      </p:sp>
      <p:pic>
        <p:nvPicPr>
          <p:cNvPr id="13" name="Image 3" descr="preencoded.png">    </p:cNvPr>
          <p:cNvPicPr>
            <a:picLocks noChangeAspect="1"/>
          </p:cNvPicPr>
          <p:nvPr/>
        </p:nvPicPr>
        <p:blipFill>
          <a:blip r:embed="rId7"/>
          <a:stretch>
            <a:fillRect/>
          </a:stretch>
        </p:blipFill>
        <p:spPr>
          <a:xfrm>
            <a:off x="661475" y="4101604"/>
            <a:ext cx="1729935" cy="1069181"/>
          </a:xfrm>
          <a:prstGeom prst="rect">
            <a:avLst/>
          </a:prstGeom>
        </p:spPr>
      </p:pic>
      <p:sp>
        <p:nvSpPr>
          <p:cNvPr id="14" name="Text 8"/>
          <p:cNvSpPr/>
          <p:nvPr/>
        </p:nvSpPr>
        <p:spPr>
          <a:xfrm>
            <a:off x="661475" y="5341441"/>
            <a:ext cx="3509081"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Incidence per 100k, 2018–2020</a:t>
            </a:r>
            <a:endParaRPr lang="en-US" sz="1550" dirty="0"/>
          </a:p>
        </p:txBody>
      </p:sp>
      <p:pic>
        <p:nvPicPr>
          <p:cNvPr id="15" name="Image 4" descr="preencoded.png">    </p:cNvPr>
          <p:cNvPicPr>
            <a:picLocks noChangeAspect="1"/>
          </p:cNvPicPr>
          <p:nvPr/>
        </p:nvPicPr>
        <p:blipFill>
          <a:blip r:embed="rId8"/>
          <a:stretch>
            <a:fillRect/>
          </a:stretch>
        </p:blipFill>
        <p:spPr>
          <a:xfrm>
            <a:off x="4341208" y="4101604"/>
            <a:ext cx="1729935" cy="1069181"/>
          </a:xfrm>
          <a:prstGeom prst="rect">
            <a:avLst/>
          </a:prstGeom>
        </p:spPr>
      </p:pic>
      <p:sp>
        <p:nvSpPr>
          <p:cNvPr id="16" name="Text 9"/>
          <p:cNvSpPr/>
          <p:nvPr/>
        </p:nvSpPr>
        <p:spPr>
          <a:xfrm>
            <a:off x="4341208" y="5341441"/>
            <a:ext cx="3509180"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Piped water access, ASEAN</a:t>
            </a:r>
            <a:endParaRPr lang="en-US" sz="1550" dirty="0"/>
          </a:p>
        </p:txBody>
      </p:sp>
      <p:pic>
        <p:nvPicPr>
          <p:cNvPr id="17" name="Image 5" descr="preencoded.png">    </p:cNvPr>
          <p:cNvPicPr>
            <a:picLocks noChangeAspect="1"/>
          </p:cNvPicPr>
          <p:nvPr/>
        </p:nvPicPr>
        <p:blipFill>
          <a:blip r:embed="rId9"/>
          <a:stretch>
            <a:fillRect/>
          </a:stretch>
        </p:blipFill>
        <p:spPr>
          <a:xfrm>
            <a:off x="8021040" y="4101604"/>
            <a:ext cx="1729935" cy="1069181"/>
          </a:xfrm>
          <a:prstGeom prst="rect">
            <a:avLst/>
          </a:prstGeom>
        </p:spPr>
      </p:pic>
      <p:sp>
        <p:nvSpPr>
          <p:cNvPr id="18" name="Text 10"/>
          <p:cNvSpPr/>
          <p:nvPr/>
        </p:nvSpPr>
        <p:spPr>
          <a:xfrm>
            <a:off x="8021040" y="5341441"/>
            <a:ext cx="3509081" cy="251023"/>
          </a:xfrm>
          <a:prstGeom prst="rect">
            <a:avLst/>
          </a:prstGeom>
          <a:noFill/>
          <a:ln/>
        </p:spPr>
        <p:txBody>
          <a:bodyPr wrap="none" lIns="0" tIns="0" rIns="0" bIns="0" rtlCol="0" anchor="t"/>
          <a:lstStyle/>
          <a:p>
            <a:pPr algn="l" indent="0" marL="0">
              <a:lnSpc>
                <a:spcPct val="104000"/>
              </a:lnSpc>
              <a:buNone/>
            </a:pPr>
            <a:r>
              <a:rPr lang="en-US" sz="1550" dirty="0">
                <a:solidFill>
                  <a:srgbClr val="4C4C4D"/>
                </a:solidFill>
                <a:latin typeface="Crimson Pro SemiBold" pitchFamily="34" charset="0"/>
                <a:ea typeface="Crimson Pro SemiBold" pitchFamily="34" charset="-122"/>
                <a:cs typeface="Crimson Pro SemiBold" pitchFamily="34" charset="-120"/>
              </a:rPr>
              <a:t>Flood-zone population, top cities</a:t>
            </a:r>
            <a:endParaRPr lang="en-US" sz="1550" dirty="0"/>
          </a:p>
        </p:txBody>
      </p:sp>
      <p:sp>
        <p:nvSpPr>
          <p:cNvPr id="19" name="Text 11"/>
          <p:cNvSpPr/>
          <p:nvPr/>
        </p:nvSpPr>
        <p:spPr>
          <a:xfrm>
            <a:off x="661475" y="5746055"/>
            <a:ext cx="1086874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4C4C4D"/>
                </a:solidFill>
                <a:latin typeface="Heebo" pitchFamily="34" charset="0"/>
                <a:ea typeface="Heebo" pitchFamily="34" charset="-122"/>
                <a:cs typeface="Heebo" pitchFamily="34" charset="-120"/>
              </a:rPr>
              <a:t>Sources: BPS denominators, 2018–2020 only, the only years with official provincial denominators · WHO/UNICEF JMP · GHSL. We never rank regions using raw case counts.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45207"/>
            <a:ext cx="10868745" cy="281880"/>
          </a:xfrm>
          <a:prstGeom prst="rect">
            <a:avLst/>
          </a:prstGeom>
          <a:noFill/>
          <a:ln/>
        </p:spPr>
        <p:txBody>
          <a:bodyPr wrap="none" lIns="0" tIns="0" rIns="0" bIns="0" rtlCol="0" anchor="t"/>
          <a:lstStyle/>
          <a:p>
            <a:pPr algn="l" indent="0" marL="0">
              <a:lnSpc>
                <a:spcPct val="104000"/>
              </a:lnSpc>
              <a:buNone/>
            </a:pPr>
            <a:r>
              <a:rPr lang="en-US" sz="1750" dirty="0">
                <a:solidFill>
                  <a:srgbClr val="152D47"/>
                </a:solidFill>
                <a:latin typeface="Crimson Pro SemiBold" pitchFamily="34" charset="0"/>
                <a:ea typeface="Crimson Pro SemiBold" pitchFamily="34" charset="-122"/>
                <a:cs typeface="Crimson Pro SemiBold" pitchFamily="34" charset="-120"/>
              </a:rPr>
              <a:t>Synthesis: From signal to schedule: a risk calendar every health office can read</a:t>
            </a:r>
            <a:endParaRPr lang="en-US" sz="1750" dirty="0"/>
          </a:p>
        </p:txBody>
      </p:sp>
      <p:sp>
        <p:nvSpPr>
          <p:cNvPr id="3" name="Shape 1"/>
          <p:cNvSpPr/>
          <p:nvPr/>
        </p:nvSpPr>
        <p:spPr>
          <a:xfrm>
            <a:off x="661475" y="913209"/>
            <a:ext cx="5412843" cy="453727"/>
          </a:xfrm>
          <a:prstGeom prst="roundRect">
            <a:avLst>
              <a:gd name="adj" fmla="val 2983"/>
            </a:avLst>
          </a:prstGeom>
          <a:solidFill>
            <a:srgbClr val="F2EEEE"/>
          </a:solidFill>
          <a:ln/>
        </p:spPr>
      </p:sp>
      <p:sp>
        <p:nvSpPr>
          <p:cNvPr id="4" name="Text 2"/>
          <p:cNvSpPr/>
          <p:nvPr/>
        </p:nvSpPr>
        <p:spPr>
          <a:xfrm>
            <a:off x="751662" y="1003399"/>
            <a:ext cx="5232468"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Three states per province</a:t>
            </a:r>
            <a:endParaRPr lang="en-US" sz="850" dirty="0"/>
          </a:p>
        </p:txBody>
      </p:sp>
      <p:sp>
        <p:nvSpPr>
          <p:cNvPr id="5" name="Text 3"/>
          <p:cNvSpPr/>
          <p:nvPr/>
        </p:nvSpPr>
        <p:spPr>
          <a:xfrm>
            <a:off x="751662" y="1170186"/>
            <a:ext cx="5232468"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Peak, Watch and Normal — derived from each province's own case history</a:t>
            </a:r>
            <a:endParaRPr lang="en-US" sz="700" dirty="0"/>
          </a:p>
        </p:txBody>
      </p:sp>
      <p:sp>
        <p:nvSpPr>
          <p:cNvPr id="6" name="Shape 4"/>
          <p:cNvSpPr/>
          <p:nvPr/>
        </p:nvSpPr>
        <p:spPr>
          <a:xfrm>
            <a:off x="6117377" y="913209"/>
            <a:ext cx="5412843" cy="453727"/>
          </a:xfrm>
          <a:prstGeom prst="roundRect">
            <a:avLst>
              <a:gd name="adj" fmla="val 2983"/>
            </a:avLst>
          </a:prstGeom>
          <a:solidFill>
            <a:srgbClr val="F2EEEE"/>
          </a:solidFill>
          <a:ln/>
        </p:spPr>
      </p:sp>
      <p:sp>
        <p:nvSpPr>
          <p:cNvPr id="7" name="Text 5"/>
          <p:cNvSpPr/>
          <p:nvPr/>
        </p:nvSpPr>
        <p:spPr>
          <a:xfrm>
            <a:off x="6207565" y="1003399"/>
            <a:ext cx="5232468"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El Niño index</a:t>
            </a:r>
            <a:endParaRPr lang="en-US" sz="850" dirty="0"/>
          </a:p>
        </p:txBody>
      </p:sp>
      <p:sp>
        <p:nvSpPr>
          <p:cNvPr id="8" name="Text 6"/>
          <p:cNvSpPr/>
          <p:nvPr/>
        </p:nvSpPr>
        <p:spPr>
          <a:xfrm>
            <a:off x="6207565" y="1170186"/>
            <a:ext cx="5232468"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Sets how severe the coming peak will be</a:t>
            </a:r>
            <a:endParaRPr lang="en-US" sz="700" dirty="0"/>
          </a:p>
        </p:txBody>
      </p:sp>
      <p:sp>
        <p:nvSpPr>
          <p:cNvPr id="9" name="Shape 7"/>
          <p:cNvSpPr/>
          <p:nvPr/>
        </p:nvSpPr>
        <p:spPr>
          <a:xfrm>
            <a:off x="661475" y="1409998"/>
            <a:ext cx="5412843" cy="453727"/>
          </a:xfrm>
          <a:prstGeom prst="roundRect">
            <a:avLst>
              <a:gd name="adj" fmla="val 2983"/>
            </a:avLst>
          </a:prstGeom>
          <a:solidFill>
            <a:srgbClr val="F2EEEE"/>
          </a:solidFill>
          <a:ln/>
        </p:spPr>
      </p:sp>
      <p:sp>
        <p:nvSpPr>
          <p:cNvPr id="10" name="Text 8"/>
          <p:cNvSpPr/>
          <p:nvPr/>
        </p:nvSpPr>
        <p:spPr>
          <a:xfrm>
            <a:off x="751662" y="1500188"/>
            <a:ext cx="5232468"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Province calendar</a:t>
            </a:r>
            <a:endParaRPr lang="en-US" sz="850" dirty="0"/>
          </a:p>
        </p:txBody>
      </p:sp>
      <p:sp>
        <p:nvSpPr>
          <p:cNvPr id="11" name="Text 9"/>
          <p:cNvSpPr/>
          <p:nvPr/>
        </p:nvSpPr>
        <p:spPr>
          <a:xfrm>
            <a:off x="751662" y="1666974"/>
            <a:ext cx="5232468"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Sets when the peak arrives</a:t>
            </a:r>
            <a:endParaRPr lang="en-US" sz="700" dirty="0"/>
          </a:p>
        </p:txBody>
      </p:sp>
      <p:sp>
        <p:nvSpPr>
          <p:cNvPr id="12" name="Shape 10"/>
          <p:cNvSpPr/>
          <p:nvPr/>
        </p:nvSpPr>
        <p:spPr>
          <a:xfrm>
            <a:off x="6117377" y="1409998"/>
            <a:ext cx="5412843" cy="453727"/>
          </a:xfrm>
          <a:prstGeom prst="roundRect">
            <a:avLst>
              <a:gd name="adj" fmla="val 2983"/>
            </a:avLst>
          </a:prstGeom>
          <a:solidFill>
            <a:srgbClr val="F2EEEE"/>
          </a:solidFill>
          <a:ln/>
        </p:spPr>
      </p:sp>
      <p:sp>
        <p:nvSpPr>
          <p:cNvPr id="13" name="Text 11"/>
          <p:cNvSpPr/>
          <p:nvPr/>
        </p:nvSpPr>
        <p:spPr>
          <a:xfrm>
            <a:off x="6207565" y="1500188"/>
            <a:ext cx="5232468" cy="140990"/>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Real lead times</a:t>
            </a:r>
            <a:endParaRPr lang="en-US" sz="850" dirty="0"/>
          </a:p>
        </p:txBody>
      </p:sp>
      <p:sp>
        <p:nvSpPr>
          <p:cNvPr id="14" name="Text 12"/>
          <p:cNvSpPr/>
          <p:nvPr/>
        </p:nvSpPr>
        <p:spPr>
          <a:xfrm>
            <a:off x="6207565" y="1666974"/>
            <a:ext cx="5232468" cy="106561"/>
          </a:xfrm>
          <a:prstGeom prst="rect">
            <a:avLst/>
          </a:prstGeom>
          <a:noFill/>
          <a:ln/>
        </p:spPr>
        <p:txBody>
          <a:bodyPr wrap="none" lIns="0" tIns="0" rIns="0" bIns="0" rtlCol="0" anchor="t"/>
          <a:lstStyle/>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Every El Niño episode since 2009: 0–3 months on observed ONI, longer still on NOAA and BMKG forecast ONI</a:t>
            </a:r>
            <a:endParaRPr lang="en-US" sz="700" dirty="0"/>
          </a:p>
        </p:txBody>
      </p:sp>
      <p:sp>
        <p:nvSpPr>
          <p:cNvPr id="15" name="Text 13"/>
          <p:cNvSpPr/>
          <p:nvPr/>
        </p:nvSpPr>
        <p:spPr>
          <a:xfrm>
            <a:off x="661475" y="1955205"/>
            <a:ext cx="6987603" cy="140990"/>
          </a:xfrm>
          <a:prstGeom prst="rect">
            <a:avLst/>
          </a:prstGeom>
          <a:noFill/>
          <a:ln/>
        </p:spPr>
        <p:txBody>
          <a:bodyPr wrap="none" lIns="0" tIns="0" rIns="0" bIns="0" rtlCol="0" anchor="t"/>
          <a:lstStyle/>
          <a:p>
            <a:pPr algn="l" indent="0" marL="0">
              <a:lnSpc>
                <a:spcPct val="104000"/>
              </a:lnSpc>
              <a:buNone/>
            </a:pPr>
            <a:r>
              <a:rPr lang="en-US" sz="850" dirty="0">
                <a:solidFill>
                  <a:srgbClr val="152D47"/>
                </a:solidFill>
                <a:latin typeface="Crimson Pro SemiBold" pitchFamily="34" charset="0"/>
                <a:ea typeface="Crimson Pro SemiBold" pitchFamily="34" charset="-122"/>
                <a:cs typeface="Crimson Pro SemiBold" pitchFamily="34" charset="-120"/>
              </a:rPr>
              <a:t>Risk calendar, six priority provinces</a:t>
            </a:r>
            <a:endParaRPr lang="en-US" sz="850" dirty="0"/>
          </a:p>
        </p:txBody>
      </p:sp>
      <p:pic>
        <p:nvPicPr>
          <p:cNvPr id="16" name="Image 0" descr="preencoded.png">    </p:cNvPr>
          <p:cNvPicPr>
            <a:picLocks noChangeAspect="1"/>
          </p:cNvPicPr>
          <p:nvPr/>
        </p:nvPicPr>
        <p:blipFill>
          <a:blip r:embed="rId1"/>
          <a:stretch>
            <a:fillRect/>
          </a:stretch>
        </p:blipFill>
        <p:spPr>
          <a:xfrm>
            <a:off x="2244768" y="2144613"/>
            <a:ext cx="3820918" cy="3654723"/>
          </a:xfrm>
          <a:prstGeom prst="rect">
            <a:avLst/>
          </a:prstGeom>
        </p:spPr>
      </p:pic>
      <p:sp>
        <p:nvSpPr>
          <p:cNvPr id="17" name="Text 14"/>
          <p:cNvSpPr/>
          <p:nvPr/>
        </p:nvSpPr>
        <p:spPr>
          <a:xfrm>
            <a:off x="7875490" y="2652216"/>
            <a:ext cx="3660981" cy="140990"/>
          </a:xfrm>
          <a:prstGeom prst="rect">
            <a:avLst/>
          </a:prstGeom>
          <a:noFill/>
          <a:ln/>
        </p:spPr>
        <p:txBody>
          <a:bodyPr wrap="none" lIns="0" tIns="0" rIns="0" bIns="0" rtlCol="0" anchor="t"/>
          <a:lstStyle/>
          <a:p>
            <a:pPr algn="l" indent="0" marL="0">
              <a:lnSpc>
                <a:spcPct val="104000"/>
              </a:lnSpc>
              <a:buNone/>
            </a:pPr>
            <a:r>
              <a:rPr lang="en-US" sz="850" dirty="0">
                <a:solidFill>
                  <a:srgbClr val="152D47"/>
                </a:solidFill>
                <a:latin typeface="Crimson Pro SemiBold" pitchFamily="34" charset="0"/>
                <a:ea typeface="Crimson Pro SemiBold" pitchFamily="34" charset="-122"/>
                <a:cs typeface="Crimson Pro SemiBold" pitchFamily="34" charset="-120"/>
              </a:rPr>
              <a:t>Cases vs the P75 outbreak threshold</a:t>
            </a:r>
            <a:endParaRPr lang="en-US" sz="850" dirty="0"/>
          </a:p>
        </p:txBody>
      </p:sp>
      <p:pic>
        <p:nvPicPr>
          <p:cNvPr id="18" name="Image 1" descr="preencoded.png">    </p:cNvPr>
          <p:cNvPicPr>
            <a:picLocks noChangeAspect="1"/>
          </p:cNvPicPr>
          <p:nvPr/>
        </p:nvPicPr>
        <p:blipFill>
          <a:blip r:embed="rId2"/>
          <a:stretch>
            <a:fillRect/>
          </a:stretch>
        </p:blipFill>
        <p:spPr>
          <a:xfrm>
            <a:off x="8516129" y="2841625"/>
            <a:ext cx="2379603" cy="2260600"/>
          </a:xfrm>
          <a:prstGeom prst="rect">
            <a:avLst/>
          </a:prstGeom>
        </p:spPr>
      </p:pic>
      <p:sp>
        <p:nvSpPr>
          <p:cNvPr id="19" name="Text 15"/>
          <p:cNvSpPr/>
          <p:nvPr/>
        </p:nvSpPr>
        <p:spPr>
          <a:xfrm>
            <a:off x="661475" y="5896173"/>
            <a:ext cx="10868745" cy="416520"/>
          </a:xfrm>
          <a:prstGeom prst="rect">
            <a:avLst/>
          </a:prstGeom>
          <a:noFill/>
          <a:ln/>
        </p:spPr>
        <p:txBody>
          <a:bodyPr wrap="square" lIns="0" tIns="0" rIns="0" bIns="0" rtlCol="0" anchor="t"/>
          <a:lstStyle/>
          <a:p>
            <a:pPr algn="l" indent="0" marL="0">
              <a:lnSpc>
                <a:spcPct val="98000"/>
              </a:lnSpc>
              <a:spcAft>
                <a:spcPts val="350"/>
              </a:spcAft>
              <a:buNone/>
            </a:pPr>
            <a:r>
              <a:rPr lang="en-US" sz="700" b="1" dirty="0">
                <a:solidFill>
                  <a:srgbClr val="4C4C4D"/>
                </a:solidFill>
                <a:latin typeface="Heebo Bold" pitchFamily="34" charset="0"/>
                <a:ea typeface="Heebo Bold" pitchFamily="34" charset="-122"/>
                <a:cs typeface="Heebo Bold" pitchFamily="34" charset="-120"/>
              </a:rPr>
              <a:t>Two public numbers, one page, no model to maintain.</a:t>
            </a:r>
            <a:endParaRPr lang="en-US" sz="700" dirty="0"/>
          </a:p>
          <a:p>
            <a:pPr algn="l" indent="0" marL="0">
              <a:lnSpc>
                <a:spcPct val="98000"/>
              </a:lnSpc>
              <a:spcAft>
                <a:spcPts val="350"/>
              </a:spcAft>
              <a:buNone/>
            </a:pPr>
            <a:r>
              <a:rPr lang="en-US" sz="700" dirty="0">
                <a:solidFill>
                  <a:srgbClr val="4C4C4D"/>
                </a:solidFill>
                <a:latin typeface="Heebo" pitchFamily="34" charset="0"/>
                <a:ea typeface="Heebo" pitchFamily="34" charset="-122"/>
                <a:cs typeface="Heebo" pitchFamily="34" charset="-120"/>
              </a:rPr>
              <a:t>The threshold is the WHO-style P75 of the province's own history, not a number we picked. Everything above the orange line is what the alarm is trying to anticipate.</a:t>
            </a:r>
            <a:endParaRPr lang="en-US" sz="700" dirty="0"/>
          </a:p>
          <a:p>
            <a:pPr algn="l" indent="0" marL="0">
              <a:lnSpc>
                <a:spcPct val="98000"/>
              </a:lnSpc>
              <a:buNone/>
            </a:pPr>
            <a:r>
              <a:rPr lang="en-US" sz="700" dirty="0">
                <a:solidFill>
                  <a:srgbClr val="4C4C4D"/>
                </a:solidFill>
                <a:latin typeface="Heebo" pitchFamily="34" charset="0"/>
                <a:ea typeface="Heebo" pitchFamily="34" charset="-122"/>
                <a:cs typeface="Heebo" pitchFamily="34" charset="-120"/>
              </a:rPr>
              <a:t>Source: 5 El Niño episodes, 2009–2024. The alarm predicts how severe the coming season will be; it does not shift its start date.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698401"/>
            <a:ext cx="10868745" cy="383977"/>
          </a:xfrm>
          <a:prstGeom prst="rect">
            <a:avLst/>
          </a:prstGeom>
          <a:noFill/>
          <a:ln/>
        </p:spPr>
        <p:txBody>
          <a:bodyPr wrap="none" lIns="0" tIns="0" rIns="0" bIns="0" rtlCol="0" anchor="t"/>
          <a:lstStyle/>
          <a:p>
            <a:pPr algn="l" indent="0" marL="0">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The solution: Two conditions. No model. No code.</a:t>
            </a:r>
            <a:endParaRPr lang="en-US" sz="2400" dirty="0"/>
          </a:p>
        </p:txBody>
      </p:sp>
      <p:sp>
        <p:nvSpPr>
          <p:cNvPr id="3" name="Shape 1"/>
          <p:cNvSpPr/>
          <p:nvPr/>
        </p:nvSpPr>
        <p:spPr>
          <a:xfrm>
            <a:off x="661475" y="1242020"/>
            <a:ext cx="10868745" cy="375047"/>
          </a:xfrm>
          <a:prstGeom prst="roundRect">
            <a:avLst>
              <a:gd name="adj" fmla="val 4914"/>
            </a:avLst>
          </a:prstGeom>
          <a:solidFill>
            <a:srgbClr val="CCD7FF"/>
          </a:solidFill>
          <a:ln/>
        </p:spPr>
      </p:sp>
      <p:pic>
        <p:nvPicPr>
          <p:cNvPr id="4" name="Image 0" descr="preencoded.png">    </p:cNvPr>
          <p:cNvPicPr>
            <a:picLocks noChangeAspect="1"/>
          </p:cNvPicPr>
          <p:nvPr/>
        </p:nvPicPr>
        <p:blipFill>
          <a:blip r:embed="rId1"/>
          <a:stretch>
            <a:fillRect/>
          </a:stretch>
        </p:blipFill>
        <p:spPr>
          <a:xfrm>
            <a:off x="784305" y="1359198"/>
            <a:ext cx="153488" cy="122833"/>
          </a:xfrm>
          <a:prstGeom prst="rect">
            <a:avLst/>
          </a:prstGeom>
        </p:spPr>
      </p:pic>
      <p:sp>
        <p:nvSpPr>
          <p:cNvPr id="5" name="Text 2"/>
          <p:cNvSpPr/>
          <p:nvPr/>
        </p:nvSpPr>
        <p:spPr>
          <a:xfrm>
            <a:off x="1060622" y="1352451"/>
            <a:ext cx="10956353" cy="162123"/>
          </a:xfrm>
          <a:prstGeom prst="rect">
            <a:avLst/>
          </a:prstGeom>
          <a:noFill/>
          <a:ln/>
        </p:spPr>
        <p:txBody>
          <a:bodyPr wrap="none" lIns="0" tIns="0" rIns="0" bIns="0" rtlCol="0" anchor="t"/>
          <a:lstStyle/>
          <a:p>
            <a:pPr algn="l" indent="0" marL="0">
              <a:lnSpc>
                <a:spcPct val="110000"/>
              </a:lnSpc>
              <a:buNone/>
            </a:pPr>
            <a:r>
              <a:rPr lang="en-US" sz="950" b="1" dirty="0">
                <a:solidFill>
                  <a:srgbClr val="000000"/>
                </a:solidFill>
                <a:latin typeface="Heebo Bold" pitchFamily="34" charset="0"/>
                <a:ea typeface="Heebo Bold" pitchFamily="34" charset="-122"/>
                <a:cs typeface="Heebo Bold" pitchFamily="34" charset="-120"/>
              </a:rPr>
              <a:t>"If the month is Jan–Apr AND ONI four months ago was ≥ 0.5 → raise alert"</a:t>
            </a:r>
            <a:endParaRPr lang="en-US" sz="950" dirty="0"/>
          </a:p>
        </p:txBody>
      </p:sp>
      <p:sp>
        <p:nvSpPr>
          <p:cNvPr id="6" name="Text 3"/>
          <p:cNvSpPr/>
          <p:nvPr/>
        </p:nvSpPr>
        <p:spPr>
          <a:xfrm>
            <a:off x="1283859" y="1768277"/>
            <a:ext cx="2311541" cy="405408"/>
          </a:xfrm>
          <a:prstGeom prst="rect">
            <a:avLst/>
          </a:prstGeom>
          <a:noFill/>
          <a:ln/>
        </p:spPr>
        <p:txBody>
          <a:bodyPr wrap="none" lIns="0" tIns="0" rIns="0" bIns="0" rtlCol="0" anchor="t"/>
          <a:lstStyle/>
          <a:p>
            <a:pPr algn="ctr" indent="0" marL="0">
              <a:lnSpc>
                <a:spcPct val="83000"/>
              </a:lnSpc>
              <a:buNone/>
            </a:pPr>
            <a:r>
              <a:rPr lang="en-US" sz="3150" dirty="0">
                <a:solidFill>
                  <a:srgbClr val="4C4C4D"/>
                </a:solidFill>
                <a:latin typeface="Crimson Pro SemiBold" pitchFamily="34" charset="0"/>
                <a:ea typeface="Crimson Pro SemiBold" pitchFamily="34" charset="-122"/>
                <a:cs typeface="Crimson Pro SemiBold" pitchFamily="34" charset="-120"/>
              </a:rPr>
              <a:t>11.6%</a:t>
            </a:r>
            <a:endParaRPr lang="en-US" sz="3150" dirty="0"/>
          </a:p>
        </p:txBody>
      </p:sp>
      <p:sp>
        <p:nvSpPr>
          <p:cNvPr id="7" name="Text 4"/>
          <p:cNvSpPr/>
          <p:nvPr/>
        </p:nvSpPr>
        <p:spPr>
          <a:xfrm>
            <a:off x="661475" y="2294930"/>
            <a:ext cx="3556308" cy="191988"/>
          </a:xfrm>
          <a:prstGeom prst="rect">
            <a:avLst/>
          </a:prstGeom>
          <a:noFill/>
          <a:ln/>
        </p:spPr>
        <p:txBody>
          <a:bodyPr wrap="none" lIns="0" tIns="0" rIns="0" bIns="0" rtlCol="0" anchor="t"/>
          <a:lstStyle/>
          <a:p>
            <a:pPr algn="ctr"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Months that fire the alert</a:t>
            </a:r>
            <a:endParaRPr lang="en-US" sz="1200" dirty="0"/>
          </a:p>
        </p:txBody>
      </p:sp>
      <p:sp>
        <p:nvSpPr>
          <p:cNvPr id="8" name="Text 5"/>
          <p:cNvSpPr/>
          <p:nvPr/>
        </p:nvSpPr>
        <p:spPr>
          <a:xfrm>
            <a:off x="4939978" y="1768277"/>
            <a:ext cx="2311640" cy="405408"/>
          </a:xfrm>
          <a:prstGeom prst="rect">
            <a:avLst/>
          </a:prstGeom>
          <a:noFill/>
          <a:ln/>
        </p:spPr>
        <p:txBody>
          <a:bodyPr wrap="none" lIns="0" tIns="0" rIns="0" bIns="0" rtlCol="0" anchor="t"/>
          <a:lstStyle/>
          <a:p>
            <a:pPr algn="ctr" indent="0" marL="0">
              <a:lnSpc>
                <a:spcPct val="83000"/>
              </a:lnSpc>
              <a:buNone/>
            </a:pPr>
            <a:r>
              <a:rPr lang="en-US" sz="3150" dirty="0">
                <a:solidFill>
                  <a:srgbClr val="4C4C4D"/>
                </a:solidFill>
                <a:latin typeface="Crimson Pro SemiBold" pitchFamily="34" charset="0"/>
                <a:ea typeface="Crimson Pro SemiBold" pitchFamily="34" charset="-122"/>
                <a:cs typeface="Crimson Pro SemiBold" pitchFamily="34" charset="-120"/>
              </a:rPr>
              <a:t>100%</a:t>
            </a:r>
            <a:endParaRPr lang="en-US" sz="3150" dirty="0"/>
          </a:p>
        </p:txBody>
      </p:sp>
      <p:sp>
        <p:nvSpPr>
          <p:cNvPr id="9" name="Text 6"/>
          <p:cNvSpPr/>
          <p:nvPr/>
        </p:nvSpPr>
        <p:spPr>
          <a:xfrm>
            <a:off x="4317594" y="2294930"/>
            <a:ext cx="3556407" cy="191988"/>
          </a:xfrm>
          <a:prstGeom prst="rect">
            <a:avLst/>
          </a:prstGeom>
          <a:noFill/>
          <a:ln/>
        </p:spPr>
        <p:txBody>
          <a:bodyPr wrap="none" lIns="0" tIns="0" rIns="0" bIns="0" rtlCol="0" anchor="t"/>
          <a:lstStyle/>
          <a:p>
            <a:pPr algn="ctr"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Precision</a:t>
            </a:r>
            <a:endParaRPr lang="en-US" sz="1200" dirty="0"/>
          </a:p>
        </p:txBody>
      </p:sp>
      <p:sp>
        <p:nvSpPr>
          <p:cNvPr id="10" name="Text 7"/>
          <p:cNvSpPr/>
          <p:nvPr/>
        </p:nvSpPr>
        <p:spPr>
          <a:xfrm>
            <a:off x="4317594" y="2534741"/>
            <a:ext cx="3556407" cy="162123"/>
          </a:xfrm>
          <a:prstGeom prst="rect">
            <a:avLst/>
          </a:prstGeom>
          <a:noFill/>
          <a:ln/>
        </p:spPr>
        <p:txBody>
          <a:bodyPr wrap="none" lIns="0" tIns="0" rIns="0" bIns="0" rtlCol="0" anchor="t"/>
          <a:lstStyle/>
          <a:p>
            <a:pPr algn="ctr" indent="0" marL="0">
              <a:lnSpc>
                <a:spcPct val="110000"/>
              </a:lnSpc>
              <a:buNone/>
            </a:pPr>
            <a:r>
              <a:rPr lang="en-US" sz="950" dirty="0">
                <a:solidFill>
                  <a:srgbClr val="4C4C4D"/>
                </a:solidFill>
                <a:latin typeface="Heebo" pitchFamily="34" charset="0"/>
                <a:ea typeface="Heebo" pitchFamily="34" charset="-122"/>
                <a:cs typeface="Heebo" pitchFamily="34" charset="-120"/>
              </a:rPr>
              <a:t>Every alert in a top-quartile month</a:t>
            </a:r>
            <a:endParaRPr lang="en-US" sz="950" dirty="0"/>
          </a:p>
        </p:txBody>
      </p:sp>
      <p:sp>
        <p:nvSpPr>
          <p:cNvPr id="11" name="Text 8"/>
          <p:cNvSpPr/>
          <p:nvPr/>
        </p:nvSpPr>
        <p:spPr>
          <a:xfrm>
            <a:off x="8596197" y="1768277"/>
            <a:ext cx="2311640" cy="405408"/>
          </a:xfrm>
          <a:prstGeom prst="rect">
            <a:avLst/>
          </a:prstGeom>
          <a:noFill/>
          <a:ln/>
        </p:spPr>
        <p:txBody>
          <a:bodyPr wrap="none" lIns="0" tIns="0" rIns="0" bIns="0" rtlCol="0" anchor="t"/>
          <a:lstStyle/>
          <a:p>
            <a:pPr algn="ctr" indent="0" marL="0">
              <a:lnSpc>
                <a:spcPct val="83000"/>
              </a:lnSpc>
              <a:buNone/>
            </a:pPr>
            <a:r>
              <a:rPr lang="en-US" sz="3150" dirty="0">
                <a:solidFill>
                  <a:srgbClr val="4C4C4D"/>
                </a:solidFill>
                <a:latin typeface="Crimson Pro SemiBold" pitchFamily="34" charset="0"/>
                <a:ea typeface="Crimson Pro SemiBold" pitchFamily="34" charset="-122"/>
                <a:cs typeface="Crimson Pro SemiBold" pitchFamily="34" charset="-120"/>
              </a:rPr>
              <a:t>4×</a:t>
            </a:r>
            <a:endParaRPr lang="en-US" sz="3150" dirty="0"/>
          </a:p>
        </p:txBody>
      </p:sp>
      <p:sp>
        <p:nvSpPr>
          <p:cNvPr id="12" name="Text 9"/>
          <p:cNvSpPr/>
          <p:nvPr/>
        </p:nvSpPr>
        <p:spPr>
          <a:xfrm>
            <a:off x="7973813" y="2294930"/>
            <a:ext cx="3556407" cy="191988"/>
          </a:xfrm>
          <a:prstGeom prst="rect">
            <a:avLst/>
          </a:prstGeom>
          <a:noFill/>
          <a:ln/>
        </p:spPr>
        <p:txBody>
          <a:bodyPr wrap="none" lIns="0" tIns="0" rIns="0" bIns="0" rtlCol="0" anchor="t"/>
          <a:lstStyle/>
          <a:p>
            <a:pPr algn="ctr"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Lift over base rate</a:t>
            </a:r>
            <a:endParaRPr lang="en-US" sz="1200" dirty="0"/>
          </a:p>
        </p:txBody>
      </p:sp>
      <p:sp>
        <p:nvSpPr>
          <p:cNvPr id="13" name="Text 10"/>
          <p:cNvSpPr/>
          <p:nvPr/>
        </p:nvSpPr>
        <p:spPr>
          <a:xfrm>
            <a:off x="661475" y="2786658"/>
            <a:ext cx="10868745" cy="324247"/>
          </a:xfrm>
          <a:prstGeom prst="rect">
            <a:avLst/>
          </a:prstGeom>
          <a:noFill/>
          <a:ln/>
        </p:spPr>
        <p:txBody>
          <a:bodyPr wrap="square" lIns="0" tIns="0" rIns="0" bIns="0" rtlCol="0" anchor="t">
            <a:normAutofit/>
          </a:bodyPr>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Both inputs are public and free: NOAA publishes ONI monthly, the calendar comes from the office's own records. It runs in a spreadsheet, a WhatsApp broadcast or the SAC page. Where a statistical forecast needs a trained model and a data team, a provincial office can start this next week.</a:t>
            </a:r>
            <a:endParaRPr lang="en-US" sz="950" dirty="0"/>
          </a:p>
        </p:txBody>
      </p:sp>
      <p:sp>
        <p:nvSpPr>
          <p:cNvPr id="14" name="Text 11"/>
          <p:cNvSpPr/>
          <p:nvPr/>
        </p:nvSpPr>
        <p:spPr>
          <a:xfrm>
            <a:off x="661475" y="3807718"/>
            <a:ext cx="6959724" cy="191988"/>
          </a:xfrm>
          <a:prstGeom prst="rect">
            <a:avLst/>
          </a:prstGeom>
          <a:noFill/>
          <a:ln/>
        </p:spPr>
        <p:txBody>
          <a:bodyPr wrap="none" lIns="0" tIns="0" rIns="0" bIns="0" rtlCol="0" anchor="t"/>
          <a:lstStyle/>
          <a:p>
            <a:pPr algn="l"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When the rule fired, 2010–2024</a:t>
            </a:r>
            <a:endParaRPr lang="en-US" sz="1200" dirty="0"/>
          </a:p>
        </p:txBody>
      </p:sp>
      <p:pic>
        <p:nvPicPr>
          <p:cNvPr id="15" name="Image 1" descr="preencoded.png">    </p:cNvPr>
          <p:cNvPicPr>
            <a:picLocks noChangeAspect="1"/>
          </p:cNvPicPr>
          <p:nvPr/>
        </p:nvPicPr>
        <p:blipFill>
          <a:blip r:embed="rId2"/>
          <a:stretch>
            <a:fillRect/>
          </a:stretch>
        </p:blipFill>
        <p:spPr>
          <a:xfrm>
            <a:off x="1879454" y="4089499"/>
            <a:ext cx="4523766" cy="1201043"/>
          </a:xfrm>
          <a:prstGeom prst="rect">
            <a:avLst/>
          </a:prstGeom>
        </p:spPr>
      </p:pic>
      <p:sp>
        <p:nvSpPr>
          <p:cNvPr id="16" name="Text 12"/>
          <p:cNvSpPr/>
          <p:nvPr/>
        </p:nvSpPr>
        <p:spPr>
          <a:xfrm>
            <a:off x="7927181" y="3280470"/>
            <a:ext cx="3609289" cy="191988"/>
          </a:xfrm>
          <a:prstGeom prst="rect">
            <a:avLst/>
          </a:prstGeom>
          <a:noFill/>
          <a:ln/>
        </p:spPr>
        <p:txBody>
          <a:bodyPr wrap="none" lIns="0" tIns="0" rIns="0" bIns="0" rtlCol="0" anchor="t"/>
          <a:lstStyle/>
          <a:p>
            <a:pPr algn="l" indent="0" marL="0">
              <a:lnSpc>
                <a:spcPct val="104000"/>
              </a:lnSpc>
              <a:buNone/>
            </a:pPr>
            <a:r>
              <a:rPr lang="en-US" sz="1200" dirty="0">
                <a:solidFill>
                  <a:srgbClr val="152D47"/>
                </a:solidFill>
                <a:latin typeface="Crimson Pro SemiBold" pitchFamily="34" charset="0"/>
                <a:ea typeface="Crimson Pro SemiBold" pitchFamily="34" charset="-122"/>
                <a:cs typeface="Crimson Pro SemiBold" pitchFamily="34" charset="-120"/>
              </a:rPr>
              <a:t>Precision vs alert frequency, four rules</a:t>
            </a:r>
            <a:endParaRPr lang="en-US" sz="1200" dirty="0"/>
          </a:p>
        </p:txBody>
      </p:sp>
      <p:pic>
        <p:nvPicPr>
          <p:cNvPr id="17" name="Image 2" descr="preencoded.png">    </p:cNvPr>
          <p:cNvPicPr>
            <a:picLocks noChangeAspect="1"/>
          </p:cNvPicPr>
          <p:nvPr/>
        </p:nvPicPr>
        <p:blipFill>
          <a:blip r:embed="rId3"/>
          <a:stretch>
            <a:fillRect/>
          </a:stretch>
        </p:blipFill>
        <p:spPr>
          <a:xfrm>
            <a:off x="8558792" y="3562251"/>
            <a:ext cx="2345969" cy="2255639"/>
          </a:xfrm>
          <a:prstGeom prst="rect">
            <a:avLst/>
          </a:prstGeom>
        </p:spPr>
      </p:pic>
      <p:sp>
        <p:nvSpPr>
          <p:cNvPr id="18" name="Text 13"/>
          <p:cNvSpPr/>
          <p:nvPr/>
        </p:nvSpPr>
        <p:spPr>
          <a:xfrm>
            <a:off x="661475" y="5997476"/>
            <a:ext cx="11478330" cy="162123"/>
          </a:xfrm>
          <a:prstGeom prst="rect">
            <a:avLst/>
          </a:prstGeom>
          <a:noFill/>
          <a:ln/>
        </p:spPr>
        <p:txBody>
          <a:bodyPr wrap="none" lIns="0" tIns="0" rIns="0" bIns="0" rtlCol="0" anchor="t"/>
          <a:lstStyle/>
          <a:p>
            <a:pPr algn="l" indent="0" marL="0">
              <a:lnSpc>
                <a:spcPct val="110000"/>
              </a:lnSpc>
              <a:buNone/>
            </a:pPr>
            <a:r>
              <a:rPr lang="en-US" sz="950" dirty="0">
                <a:solidFill>
                  <a:srgbClr val="4C4C4D"/>
                </a:solidFill>
                <a:latin typeface="Heebo" pitchFamily="34" charset="0"/>
                <a:ea typeface="Heebo" pitchFamily="34" charset="-122"/>
                <a:cs typeface="Heebo" pitchFamily="34" charset="-120"/>
              </a:rPr>
              <a:t>Source: Indonesia 2010–2024, 172 months · the ONI ≥ 0.5 threshold is NOAA's own El Niño definition, not a value we tuned.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37369"/>
            <a:ext cx="10868745" cy="275927"/>
          </a:xfrm>
          <a:prstGeom prst="rect">
            <a:avLst/>
          </a:prstGeom>
          <a:noFill/>
          <a:ln/>
        </p:spPr>
        <p:txBody>
          <a:bodyPr wrap="none" lIns="0" tIns="0" rIns="0" bIns="0" rtlCol="0" anchor="t"/>
          <a:lstStyle/>
          <a:p>
            <a:pPr algn="l" indent="0" marL="0">
              <a:lnSpc>
                <a:spcPct val="104000"/>
              </a:lnSpc>
              <a:buNone/>
            </a:pPr>
            <a:r>
              <a:rPr lang="en-US" sz="1700" dirty="0">
                <a:solidFill>
                  <a:srgbClr val="152D47"/>
                </a:solidFill>
                <a:latin typeface="Crimson Pro SemiBold" pitchFamily="34" charset="0"/>
                <a:ea typeface="Crimson Pro SemiBold" pitchFamily="34" charset="-122"/>
                <a:cs typeface="Crimson Pro SemiBold" pitchFamily="34" charset="-120"/>
              </a:rPr>
              <a:t>Viability: We tried to break our own rule. It held.</a:t>
            </a:r>
            <a:endParaRPr lang="en-US" sz="1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895747"/>
            <a:ext cx="5413736" cy="468313"/>
          </a:xfrm>
          <a:prstGeom prst="rect">
            <a:avLst/>
          </a:prstGeom>
        </p:spPr>
      </p:pic>
      <p:sp>
        <p:nvSpPr>
          <p:cNvPr id="4" name="Text 1"/>
          <p:cNvSpPr/>
          <p:nvPr/>
        </p:nvSpPr>
        <p:spPr>
          <a:xfrm>
            <a:off x="813276" y="996752"/>
            <a:ext cx="5160933" cy="13801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Out-of-sample test</a:t>
            </a:r>
            <a:endParaRPr lang="en-US" sz="850" dirty="0"/>
          </a:p>
        </p:txBody>
      </p:sp>
      <p:sp>
        <p:nvSpPr>
          <p:cNvPr id="5" name="Text 2"/>
          <p:cNvSpPr/>
          <p:nvPr/>
        </p:nvSpPr>
        <p:spPr>
          <a:xfrm>
            <a:off x="813276" y="1159470"/>
            <a:ext cx="5160933" cy="103584"/>
          </a:xfrm>
          <a:prstGeom prst="rect">
            <a:avLst/>
          </a:prstGeom>
          <a:noFill/>
          <a:ln/>
        </p:spPr>
        <p:txBody>
          <a:bodyPr wrap="none" lIns="0" tIns="0" rIns="0" bIns="0" rtlCol="0" anchor="t"/>
          <a:lstStyle/>
          <a:p>
            <a:pPr algn="l" indent="0" marL="0">
              <a:lnSpc>
                <a:spcPct val="98000"/>
              </a:lnSpc>
              <a:buNone/>
            </a:pPr>
            <a:r>
              <a:rPr lang="en-US" sz="650" dirty="0">
                <a:solidFill>
                  <a:srgbClr val="4C4C4D"/>
                </a:solidFill>
                <a:latin typeface="Heebo" pitchFamily="34" charset="0"/>
                <a:ea typeface="Heebo" pitchFamily="34" charset="-122"/>
                <a:cs typeface="Heebo" pitchFamily="34" charset="-120"/>
              </a:rPr>
              <a:t>Rule built on 2010–2016, tested blind on 2017–2024 → precision still 100%, sensitivity 44%, lift 3.9</a:t>
            </a:r>
            <a:endParaRPr lang="en-US" sz="6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16385" y="895747"/>
            <a:ext cx="5413835" cy="468313"/>
          </a:xfrm>
          <a:prstGeom prst="rect">
            <a:avLst/>
          </a:prstGeom>
        </p:spPr>
      </p:pic>
      <p:sp>
        <p:nvSpPr>
          <p:cNvPr id="7" name="Text 3"/>
          <p:cNvSpPr/>
          <p:nvPr/>
        </p:nvSpPr>
        <p:spPr>
          <a:xfrm>
            <a:off x="6268186" y="996752"/>
            <a:ext cx="5161032" cy="13801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WHO/PAHO endemic-channel benchmark</a:t>
            </a:r>
            <a:endParaRPr lang="en-US" sz="850" dirty="0"/>
          </a:p>
        </p:txBody>
      </p:sp>
      <p:sp>
        <p:nvSpPr>
          <p:cNvPr id="8" name="Text 4"/>
          <p:cNvSpPr/>
          <p:nvPr/>
        </p:nvSpPr>
        <p:spPr>
          <a:xfrm>
            <a:off x="6268186" y="1159470"/>
            <a:ext cx="5161032" cy="103584"/>
          </a:xfrm>
          <a:prstGeom prst="rect">
            <a:avLst/>
          </a:prstGeom>
          <a:noFill/>
          <a:ln/>
        </p:spPr>
        <p:txBody>
          <a:bodyPr wrap="none" lIns="0" tIns="0" rIns="0" bIns="0" rtlCol="0" anchor="t"/>
          <a:lstStyle/>
          <a:p>
            <a:pPr algn="l" indent="0" marL="0">
              <a:lnSpc>
                <a:spcPct val="98000"/>
              </a:lnSpc>
              <a:buNone/>
            </a:pPr>
            <a:r>
              <a:rPr lang="en-US" sz="650" dirty="0">
                <a:solidFill>
                  <a:srgbClr val="4C4C4D"/>
                </a:solidFill>
                <a:latin typeface="Heebo" pitchFamily="34" charset="0"/>
                <a:ea typeface="Heebo" pitchFamily="34" charset="-122"/>
                <a:cs typeface="Heebo" pitchFamily="34" charset="-120"/>
              </a:rPr>
              <a:t>Specificity 91% and lift 2.5. All of the value comes from the El Niño condition rather than from the season</a:t>
            </a:r>
            <a:endParaRPr lang="en-US" sz="6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1405235"/>
            <a:ext cx="5413736" cy="571897"/>
          </a:xfrm>
          <a:prstGeom prst="rect">
            <a:avLst/>
          </a:prstGeom>
        </p:spPr>
      </p:pic>
      <p:sp>
        <p:nvSpPr>
          <p:cNvPr id="10" name="Text 5"/>
          <p:cNvSpPr/>
          <p:nvPr/>
        </p:nvSpPr>
        <p:spPr>
          <a:xfrm>
            <a:off x="813276" y="1506240"/>
            <a:ext cx="5160933" cy="13801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Published EWS comparison</a:t>
            </a:r>
            <a:endParaRPr lang="en-US" sz="850" dirty="0"/>
          </a:p>
        </p:txBody>
      </p:sp>
      <p:sp>
        <p:nvSpPr>
          <p:cNvPr id="11" name="Text 6"/>
          <p:cNvSpPr/>
          <p:nvPr/>
        </p:nvSpPr>
        <p:spPr>
          <a:xfrm>
            <a:off x="813276" y="1668959"/>
            <a:ext cx="5160933" cy="207169"/>
          </a:xfrm>
          <a:prstGeom prst="rect">
            <a:avLst/>
          </a:prstGeom>
          <a:noFill/>
          <a:ln/>
        </p:spPr>
        <p:txBody>
          <a:bodyPr wrap="square" lIns="0" tIns="0" rIns="0" bIns="0" rtlCol="0" anchor="t">
            <a:normAutofit/>
          </a:bodyPr>
          <a:lstStyle/>
          <a:p>
            <a:pPr algn="l" indent="0" marL="0">
              <a:lnSpc>
                <a:spcPct val="98000"/>
              </a:lnSpc>
              <a:buNone/>
            </a:pPr>
            <a:r>
              <a:rPr lang="en-US" sz="650" dirty="0">
                <a:solidFill>
                  <a:srgbClr val="4C4C4D"/>
                </a:solidFill>
                <a:latin typeface="Heebo" pitchFamily="34" charset="0"/>
                <a:ea typeface="Heebo" pitchFamily="34" charset="-122"/>
                <a:cs typeface="Heebo" pitchFamily="34" charset="-120"/>
              </a:rPr>
              <a:t>Published dengue early-warning systems report PPV 43–86% (17-system review). We reach a comparable PPV using monthly data and no statistical model</a:t>
            </a:r>
            <a:endParaRPr lang="en-US" sz="6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16385" y="1405235"/>
            <a:ext cx="5413835" cy="571897"/>
          </a:xfrm>
          <a:prstGeom prst="rect">
            <a:avLst/>
          </a:prstGeom>
        </p:spPr>
      </p:pic>
      <p:sp>
        <p:nvSpPr>
          <p:cNvPr id="13" name="Text 7"/>
          <p:cNvSpPr/>
          <p:nvPr/>
        </p:nvSpPr>
        <p:spPr>
          <a:xfrm>
            <a:off x="6268186" y="1506240"/>
            <a:ext cx="5161032" cy="13801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Thailand replication</a:t>
            </a:r>
            <a:endParaRPr lang="en-US" sz="850" dirty="0"/>
          </a:p>
        </p:txBody>
      </p:sp>
      <p:sp>
        <p:nvSpPr>
          <p:cNvPr id="14" name="Text 8"/>
          <p:cNvSpPr/>
          <p:nvPr/>
        </p:nvSpPr>
        <p:spPr>
          <a:xfrm>
            <a:off x="6268186" y="1668959"/>
            <a:ext cx="5161032" cy="103584"/>
          </a:xfrm>
          <a:prstGeom prst="rect">
            <a:avLst/>
          </a:prstGeom>
          <a:noFill/>
          <a:ln/>
        </p:spPr>
        <p:txBody>
          <a:bodyPr wrap="none" lIns="0" tIns="0" rIns="0" bIns="0" rtlCol="0" anchor="t"/>
          <a:lstStyle/>
          <a:p>
            <a:pPr algn="l" indent="0" marL="0">
              <a:lnSpc>
                <a:spcPct val="98000"/>
              </a:lnSpc>
              <a:buNone/>
            </a:pPr>
            <a:r>
              <a:rPr lang="en-US" sz="650" dirty="0">
                <a:solidFill>
                  <a:srgbClr val="4C4C4D"/>
                </a:solidFill>
                <a:latin typeface="Heebo" pitchFamily="34" charset="0"/>
                <a:ea typeface="Heebo" pitchFamily="34" charset="-122"/>
                <a:cs typeface="Heebo" pitchFamily="34" charset="-120"/>
              </a:rPr>
              <a:t>Replicates in Thailand with its own best predictor (temperature anomaly, lag 2): lift 2.7</a:t>
            </a:r>
            <a:endParaRPr lang="en-US" sz="650" dirty="0"/>
          </a:p>
        </p:txBody>
      </p:sp>
      <p:sp>
        <p:nvSpPr>
          <p:cNvPr id="15" name="Text 9"/>
          <p:cNvSpPr/>
          <p:nvPr/>
        </p:nvSpPr>
        <p:spPr>
          <a:xfrm>
            <a:off x="661475" y="2064643"/>
            <a:ext cx="6989290" cy="138013"/>
          </a:xfrm>
          <a:prstGeom prst="rect">
            <a:avLst/>
          </a:prstGeom>
          <a:noFill/>
          <a:ln/>
        </p:spPr>
        <p:txBody>
          <a:bodyPr wrap="none" lIns="0" tIns="0" rIns="0" bIns="0" rtlCol="0" anchor="t"/>
          <a:lstStyle/>
          <a:p>
            <a:pPr algn="l" indent="0" marL="0">
              <a:lnSpc>
                <a:spcPct val="104000"/>
              </a:lnSpc>
              <a:buNone/>
            </a:pPr>
            <a:r>
              <a:rPr lang="en-US" sz="850" dirty="0">
                <a:solidFill>
                  <a:srgbClr val="152D47"/>
                </a:solidFill>
                <a:latin typeface="Crimson Pro SemiBold" pitchFamily="34" charset="0"/>
                <a:ea typeface="Crimson Pro SemiBold" pitchFamily="34" charset="-122"/>
                <a:cs typeface="Crimson Pro SemiBold" pitchFamily="34" charset="-120"/>
              </a:rPr>
              <a:t>Train vs blind test, Indonesia and Thailand</a:t>
            </a:r>
            <a:endParaRPr lang="en-US" sz="850" dirty="0"/>
          </a:p>
        </p:txBody>
      </p:sp>
      <p:pic>
        <p:nvPicPr>
          <p:cNvPr id="16" name="Image 4" descr="preencoded.png">    </p:cNvPr>
          <p:cNvPicPr>
            <a:picLocks noChangeAspect="1"/>
          </p:cNvPicPr>
          <p:nvPr/>
        </p:nvPicPr>
        <p:blipFill>
          <a:blip r:embed="rId9"/>
          <a:stretch>
            <a:fillRect/>
          </a:stretch>
        </p:blipFill>
        <p:spPr>
          <a:xfrm>
            <a:off x="2294773" y="2248991"/>
            <a:ext cx="3722594" cy="3575546"/>
          </a:xfrm>
          <a:prstGeom prst="rect">
            <a:avLst/>
          </a:prstGeom>
        </p:spPr>
      </p:pic>
      <p:sp>
        <p:nvSpPr>
          <p:cNvPr id="17" name="Text 10"/>
          <p:cNvSpPr/>
          <p:nvPr/>
        </p:nvSpPr>
        <p:spPr>
          <a:xfrm>
            <a:off x="7872414" y="3074095"/>
            <a:ext cx="3664057" cy="138013"/>
          </a:xfrm>
          <a:prstGeom prst="rect">
            <a:avLst/>
          </a:prstGeom>
          <a:noFill/>
          <a:ln/>
        </p:spPr>
        <p:txBody>
          <a:bodyPr wrap="none" lIns="0" tIns="0" rIns="0" bIns="0" rtlCol="0" anchor="t"/>
          <a:lstStyle/>
          <a:p>
            <a:pPr algn="l" indent="0" marL="0">
              <a:lnSpc>
                <a:spcPct val="104000"/>
              </a:lnSpc>
              <a:buNone/>
            </a:pPr>
            <a:r>
              <a:rPr lang="en-US" sz="850" dirty="0">
                <a:solidFill>
                  <a:srgbClr val="152D47"/>
                </a:solidFill>
                <a:latin typeface="Crimson Pro SemiBold" pitchFamily="34" charset="0"/>
                <a:ea typeface="Crimson Pro SemiBold" pitchFamily="34" charset="-122"/>
                <a:cs typeface="Crimson Pro SemiBold" pitchFamily="34" charset="-120"/>
              </a:rPr>
              <a:t>How we compare to published EWS — sensitivity % / PPV %</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872414" y="3258443"/>
          <a:ext cx="3664057" cy="914400"/>
        </p:xfrm>
        <a:graphic>
          <a:graphicData uri="http://schemas.openxmlformats.org/drawingml/2006/table">
            <a:tbl>
              <a:tblPr/>
              <a:tblGrid>
                <a:gridCol w="1221352"/>
                <a:gridCol w="1221352"/>
                <a:gridCol w="1221352"/>
              </a:tblGrid>
              <a:tr h="168866">
                <a:tc>
                  <a:txBody>
                    <a:bodyPr/>
                    <a:lstStyle/>
                    <a:p>
                      <a:pPr algn="l" indent="0" marL="0">
                        <a:buNone/>
                      </a:pPr>
                      <a:r>
                        <a:rPr lang="en-US" sz="800" b="1" dirty="0">
                          <a:solidFill>
                            <a:srgbClr val="4C4C4D"/>
                          </a:solidFill>
                          <a:latin typeface="Heebo" pitchFamily="34" charset="0"/>
                          <a:ea typeface="Heebo" pitchFamily="34" charset="-122"/>
                          <a:cs typeface="Heebo" pitchFamily="34" charset="-120"/>
                        </a:rPr>
                        <a:t>System</a:t>
                      </a:r>
                      <a:endParaRPr lang="en-US" sz="800" dirty="0">
                        <a:latin typeface="Heebo" charset="0"/>
                        <a:ea typeface="Heebo" charset="0"/>
                        <a:cs typeface="Heebo" charset="0"/>
                      </a:endParaRPr>
                    </a:p>
                  </a:txBody>
                  <a:tcPr marL="88307" marR="88307"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b="1" dirty="0">
                          <a:solidFill>
                            <a:srgbClr val="4C4C4D"/>
                          </a:solidFill>
                          <a:latin typeface="Heebo" pitchFamily="34" charset="0"/>
                          <a:ea typeface="Heebo" pitchFamily="34" charset="-122"/>
                          <a:cs typeface="Heebo" pitchFamily="34" charset="-120"/>
                        </a:rPr>
                        <a:t>Sensitivity %</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b="1" dirty="0">
                          <a:solidFill>
                            <a:srgbClr val="4C4C4D"/>
                          </a:solidFill>
                          <a:latin typeface="Heebo" pitchFamily="34" charset="0"/>
                          <a:ea typeface="Heebo" pitchFamily="34" charset="-122"/>
                          <a:cs typeface="Heebo" pitchFamily="34" charset="-120"/>
                        </a:rPr>
                        <a:t>PPV %</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275623">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17 published EWS (range, Baharom et al. 2022)</a:t>
                      </a:r>
                      <a:endParaRPr lang="en-US" sz="800" dirty="0">
                        <a:latin typeface="Heebo" charset="0"/>
                        <a:ea typeface="Heebo" charset="0"/>
                        <a:cs typeface="Heebo" charset="0"/>
                      </a:endParaRPr>
                    </a:p>
                  </a:txBody>
                  <a:tcPr marL="88307" marR="88307"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50–100</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43–86</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275623">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EWARS-csd Colombia (Schlesinger et al. 2024)</a:t>
                      </a:r>
                      <a:endParaRPr lang="en-US" sz="800" dirty="0">
                        <a:latin typeface="Heebo" charset="0"/>
                        <a:ea typeface="Heebo" charset="0"/>
                        <a:cs typeface="Heebo" charset="0"/>
                      </a:endParaRPr>
                    </a:p>
                  </a:txBody>
                  <a:tcPr marL="88307" marR="88307"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97</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75</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275623">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WHO/TDR EWARS Mexico (Cárdenas et al. 2021)</a:t>
                      </a:r>
                      <a:endParaRPr lang="en-US" sz="800" dirty="0">
                        <a:latin typeface="Heebo" charset="0"/>
                        <a:ea typeface="Heebo" charset="0"/>
                        <a:cs typeface="Heebo" charset="0"/>
                      </a:endParaRPr>
                    </a:p>
                  </a:txBody>
                  <a:tcPr marL="88307" marR="88307"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100</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83</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275623">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Rule D vs P75 (blind test, this deck)</a:t>
                      </a:r>
                      <a:endParaRPr lang="en-US" sz="800" dirty="0">
                        <a:latin typeface="Heebo" charset="0"/>
                        <a:ea typeface="Heebo" charset="0"/>
                        <a:cs typeface="Heebo" charset="0"/>
                      </a:endParaRPr>
                    </a:p>
                  </a:txBody>
                  <a:tcPr marL="88307" marR="88307"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44</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100</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272448">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Rule D vs endemic channel (this deck)</a:t>
                      </a:r>
                      <a:endParaRPr lang="en-US" sz="800" dirty="0">
                        <a:latin typeface="Heebo" charset="0"/>
                        <a:ea typeface="Heebo" charset="0"/>
                        <a:cs typeface="Heebo" charset="0"/>
                      </a:endParaRPr>
                    </a:p>
                  </a:txBody>
                  <a:tcPr marL="88307" marR="88307"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29</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30</a:t>
                      </a:r>
                      <a:endParaRPr lang="en-US" sz="800" dirty="0">
                        <a:latin typeface="Heebo" charset="0"/>
                        <a:ea typeface="Heebo" charset="0"/>
                        <a:cs typeface="Heebo" charset="0"/>
                      </a:endParaRPr>
                    </a:p>
                  </a:txBody>
                  <a:tcPr marL="88307" marR="88307"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bl>
          </a:graphicData>
        </a:graphic>
      </p:graphicFrame>
      <p:sp>
        <p:nvSpPr>
          <p:cNvPr id="19" name="Text 11"/>
          <p:cNvSpPr/>
          <p:nvPr/>
        </p:nvSpPr>
        <p:spPr>
          <a:xfrm>
            <a:off x="661475" y="5917208"/>
            <a:ext cx="10868745" cy="403423"/>
          </a:xfrm>
          <a:prstGeom prst="rect">
            <a:avLst/>
          </a:prstGeom>
          <a:noFill/>
          <a:ln/>
        </p:spPr>
        <p:txBody>
          <a:bodyPr wrap="square" lIns="0" tIns="0" rIns="0" bIns="0" rtlCol="0" anchor="t"/>
          <a:lstStyle/>
          <a:p>
            <a:pPr algn="l" indent="0" marL="0">
              <a:lnSpc>
                <a:spcPct val="98000"/>
              </a:lnSpc>
              <a:spcAft>
                <a:spcPts val="350"/>
              </a:spcAft>
              <a:buNone/>
            </a:pPr>
            <a:r>
              <a:rPr lang="en-US" sz="650" b="1" dirty="0">
                <a:solidFill>
                  <a:srgbClr val="4C4C4D"/>
                </a:solidFill>
                <a:latin typeface="Heebo Bold" pitchFamily="34" charset="0"/>
                <a:ea typeface="Heebo Bold" pitchFamily="34" charset="-122"/>
                <a:cs typeface="Heebo Bold" pitchFamily="34" charset="-120"/>
              </a:rPr>
              <a:t>Adoption in three phases:</a:t>
            </a:r>
            <a:pPr algn="l" indent="0" marL="0">
              <a:lnSpc>
                <a:spcPct val="98000"/>
              </a:lnSpc>
              <a:spcAft>
                <a:spcPts val="350"/>
              </a:spcAft>
              <a:buNone/>
            </a:pPr>
            <a:r>
              <a:rPr lang="en-US" sz="650" dirty="0">
                <a:solidFill>
                  <a:srgbClr val="4C4C4D"/>
                </a:solidFill>
                <a:latin typeface="Heebo" pitchFamily="34" charset="0"/>
                <a:ea typeface="Heebo" pitchFamily="34" charset="-122"/>
                <a:cs typeface="Heebo" pitchFamily="34" charset="-120"/>
              </a:rPr>
              <a:t> 1 Bali, N. &amp; E. Kalimantan pilot → 2 all 38 provinces → 3 ASEAN peers. Cost: open data, monthly refresh, existing staff. No new licence and no new headcount.</a:t>
            </a:r>
            <a:endParaRPr lang="en-US" sz="650" dirty="0"/>
          </a:p>
          <a:p>
            <a:pPr algn="l" indent="0" marL="0">
              <a:lnSpc>
                <a:spcPct val="98000"/>
              </a:lnSpc>
              <a:spcAft>
                <a:spcPts val="350"/>
              </a:spcAft>
              <a:buNone/>
            </a:pPr>
            <a:r>
              <a:rPr lang="en-US" sz="650" dirty="0">
                <a:solidFill>
                  <a:srgbClr val="4C4C4D"/>
                </a:solidFill>
                <a:latin typeface="Heebo" pitchFamily="34" charset="0"/>
                <a:ea typeface="Heebo" pitchFamily="34" charset="-122"/>
                <a:cs typeface="Heebo" pitchFamily="34" charset="-120"/>
              </a:rPr>
              <a:t>We report the endemic-channel row even though it is our worst result. It is the harder benchmark, and hiding it would be the kind of selective reporting this deck argues against.</a:t>
            </a:r>
            <a:endParaRPr lang="en-US" sz="650" dirty="0"/>
          </a:p>
          <a:p>
            <a:pPr algn="l" indent="0" marL="0">
              <a:lnSpc>
                <a:spcPct val="98000"/>
              </a:lnSpc>
              <a:buNone/>
            </a:pPr>
            <a:r>
              <a:rPr lang="en-US" sz="650" dirty="0">
                <a:solidFill>
                  <a:srgbClr val="4C4C4D"/>
                </a:solidFill>
                <a:latin typeface="Heebo" pitchFamily="34" charset="0"/>
                <a:ea typeface="Heebo" pitchFamily="34" charset="-122"/>
                <a:cs typeface="Heebo" pitchFamily="34" charset="-120"/>
              </a:rPr>
              <a:t>We chose precision over sensitivity: a repeated false alarm is the fastest way to make a health office stop trusting the system. This rule is an escalation layer on top of routine surveillance, not a replacement.</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53641"/>
            <a:ext cx="10868745" cy="287933"/>
          </a:xfrm>
          <a:prstGeom prst="rect">
            <a:avLst/>
          </a:prstGeom>
          <a:noFill/>
          <a:ln/>
        </p:spPr>
        <p:txBody>
          <a:bodyPr wrap="none" lIns="0" tIns="0" rIns="0" bIns="0" rtlCol="0" anchor="t"/>
          <a:lstStyle/>
          <a:p>
            <a:pPr algn="l" indent="0" marL="0">
              <a:lnSpc>
                <a:spcPct val="104000"/>
              </a:lnSpc>
              <a:buNone/>
            </a:pPr>
            <a:r>
              <a:rPr lang="en-US" sz="1800" dirty="0">
                <a:solidFill>
                  <a:srgbClr val="152D47"/>
                </a:solidFill>
                <a:latin typeface="Crimson Pro SemiBold" pitchFamily="34" charset="0"/>
                <a:ea typeface="Crimson Pro SemiBold" pitchFamily="34" charset="-122"/>
                <a:cs typeface="Crimson Pro SemiBold" pitchFamily="34" charset="-120"/>
              </a:rPr>
              <a:t>Impact · Indonesia alone: Acting 4–8 weeks earlier is worth US$1.5–3.7 million a year</a:t>
            </a:r>
            <a:endParaRPr lang="en-US" sz="1800" dirty="0"/>
          </a:p>
        </p:txBody>
      </p:sp>
      <p:sp>
        <p:nvSpPr>
          <p:cNvPr id="3" name="Text 1"/>
          <p:cNvSpPr/>
          <p:nvPr/>
        </p:nvSpPr>
        <p:spPr>
          <a:xfrm>
            <a:off x="1288919" y="977404"/>
            <a:ext cx="2330491" cy="304105"/>
          </a:xfrm>
          <a:prstGeom prst="rect">
            <a:avLst/>
          </a:prstGeom>
          <a:noFill/>
          <a:ln/>
        </p:spPr>
        <p:txBody>
          <a:bodyPr wrap="none" lIns="0" tIns="0" rIns="0" bIns="0" rtlCol="0" anchor="t"/>
          <a:lstStyle/>
          <a:p>
            <a:pPr algn="ctr" indent="0" marL="0">
              <a:lnSpc>
                <a:spcPct val="83000"/>
              </a:lnSpc>
              <a:buNone/>
            </a:pPr>
            <a:r>
              <a:rPr lang="en-US" sz="2350" dirty="0">
                <a:solidFill>
                  <a:srgbClr val="4C4C4D"/>
                </a:solidFill>
                <a:latin typeface="Crimson Pro SemiBold" pitchFamily="34" charset="0"/>
                <a:ea typeface="Crimson Pro SemiBold" pitchFamily="34" charset="-122"/>
                <a:cs typeface="Crimson Pro SemiBold" pitchFamily="34" charset="-120"/>
              </a:rPr>
              <a:t>4,656</a:t>
            </a:r>
            <a:endParaRPr lang="en-US" sz="2350" dirty="0"/>
          </a:p>
        </p:txBody>
      </p:sp>
      <p:sp>
        <p:nvSpPr>
          <p:cNvPr id="4" name="Text 2"/>
          <p:cNvSpPr/>
          <p:nvPr/>
        </p:nvSpPr>
        <p:spPr>
          <a:xfrm>
            <a:off x="661425" y="1361182"/>
            <a:ext cx="3585477" cy="143966"/>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Cases/year prevented</a:t>
            </a:r>
            <a:endParaRPr lang="en-US" sz="900" dirty="0"/>
          </a:p>
        </p:txBody>
      </p:sp>
      <p:sp>
        <p:nvSpPr>
          <p:cNvPr id="5" name="Text 3"/>
          <p:cNvSpPr/>
          <p:nvPr/>
        </p:nvSpPr>
        <p:spPr>
          <a:xfrm>
            <a:off x="661475" y="1532037"/>
            <a:ext cx="3585477" cy="109637"/>
          </a:xfrm>
          <a:prstGeom prst="rect">
            <a:avLst/>
          </a:prstGeom>
          <a:noFill/>
          <a:ln/>
        </p:spPr>
        <p:txBody>
          <a:bodyPr wrap="none" lIns="0" tIns="0" rIns="0" bIns="0" rtlCol="0" anchor="t"/>
          <a:lstStyle/>
          <a:p>
            <a:pPr algn="ctr" indent="0" marL="0">
              <a:lnSpc>
                <a:spcPct val="99000"/>
              </a:lnSpc>
              <a:buNone/>
            </a:pPr>
            <a:r>
              <a:rPr lang="en-US" sz="700" dirty="0">
                <a:solidFill>
                  <a:srgbClr val="4C4C4D"/>
                </a:solidFill>
                <a:latin typeface="Heebo" pitchFamily="34" charset="0"/>
                <a:ea typeface="Heebo" pitchFamily="34" charset="-122"/>
                <a:cs typeface="Heebo" pitchFamily="34" charset="-120"/>
              </a:rPr>
              <a:t>Under the most conservative scenario</a:t>
            </a:r>
            <a:endParaRPr lang="en-US" sz="700" dirty="0"/>
          </a:p>
        </p:txBody>
      </p:sp>
      <p:sp>
        <p:nvSpPr>
          <p:cNvPr id="6" name="Text 4"/>
          <p:cNvSpPr/>
          <p:nvPr/>
        </p:nvSpPr>
        <p:spPr>
          <a:xfrm>
            <a:off x="4930453" y="977404"/>
            <a:ext cx="2330590" cy="304105"/>
          </a:xfrm>
          <a:prstGeom prst="rect">
            <a:avLst/>
          </a:prstGeom>
          <a:noFill/>
          <a:ln/>
        </p:spPr>
        <p:txBody>
          <a:bodyPr wrap="none" lIns="0" tIns="0" rIns="0" bIns="0" rtlCol="0" anchor="t"/>
          <a:lstStyle/>
          <a:p>
            <a:pPr algn="ctr" indent="0" marL="0">
              <a:lnSpc>
                <a:spcPct val="83000"/>
              </a:lnSpc>
              <a:buNone/>
            </a:pPr>
            <a:r>
              <a:rPr lang="en-US" sz="2350" dirty="0">
                <a:solidFill>
                  <a:srgbClr val="4C4C4D"/>
                </a:solidFill>
                <a:latin typeface="Crimson Pro SemiBold" pitchFamily="34" charset="0"/>
                <a:ea typeface="Crimson Pro SemiBold" pitchFamily="34" charset="-122"/>
                <a:cs typeface="Crimson Pro SemiBold" pitchFamily="34" charset="-120"/>
              </a:rPr>
              <a:t>44%</a:t>
            </a:r>
            <a:endParaRPr lang="en-US" sz="2350" dirty="0"/>
          </a:p>
        </p:txBody>
      </p:sp>
      <p:sp>
        <p:nvSpPr>
          <p:cNvPr id="7" name="Text 5"/>
          <p:cNvSpPr/>
          <p:nvPr/>
        </p:nvSpPr>
        <p:spPr>
          <a:xfrm>
            <a:off x="4303010" y="1361182"/>
            <a:ext cx="3585577" cy="143966"/>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Jan–Apr share</a:t>
            </a:r>
            <a:endParaRPr lang="en-US" sz="900" dirty="0"/>
          </a:p>
        </p:txBody>
      </p:sp>
      <p:sp>
        <p:nvSpPr>
          <p:cNvPr id="8" name="Text 6"/>
          <p:cNvSpPr/>
          <p:nvPr/>
        </p:nvSpPr>
        <p:spPr>
          <a:xfrm>
            <a:off x="4303010" y="1532037"/>
            <a:ext cx="3585577" cy="109637"/>
          </a:xfrm>
          <a:prstGeom prst="rect">
            <a:avLst/>
          </a:prstGeom>
          <a:noFill/>
          <a:ln/>
        </p:spPr>
        <p:txBody>
          <a:bodyPr wrap="none" lIns="0" tIns="0" rIns="0" bIns="0" rtlCol="0" anchor="t"/>
          <a:lstStyle/>
          <a:p>
            <a:pPr algn="ctr" indent="0" marL="0">
              <a:lnSpc>
                <a:spcPct val="99000"/>
              </a:lnSpc>
              <a:buNone/>
            </a:pPr>
            <a:r>
              <a:rPr lang="en-US" sz="700" dirty="0">
                <a:solidFill>
                  <a:srgbClr val="4C4C4D"/>
                </a:solidFill>
                <a:latin typeface="Heebo" pitchFamily="34" charset="0"/>
                <a:ea typeface="Heebo" pitchFamily="34" charset="-122"/>
                <a:cs typeface="Heebo" pitchFamily="34" charset="-120"/>
              </a:rPr>
              <a:t>Of Indonesia's 104,753 average annual cases (complete years 2015–2023)</a:t>
            </a:r>
            <a:endParaRPr lang="en-US" sz="700" dirty="0"/>
          </a:p>
        </p:txBody>
      </p:sp>
      <p:sp>
        <p:nvSpPr>
          <p:cNvPr id="9" name="Text 7"/>
          <p:cNvSpPr/>
          <p:nvPr/>
        </p:nvSpPr>
        <p:spPr>
          <a:xfrm>
            <a:off x="8572087" y="977404"/>
            <a:ext cx="2330590" cy="304105"/>
          </a:xfrm>
          <a:prstGeom prst="rect">
            <a:avLst/>
          </a:prstGeom>
          <a:noFill/>
          <a:ln/>
        </p:spPr>
        <p:txBody>
          <a:bodyPr wrap="none" lIns="0" tIns="0" rIns="0" bIns="0" rtlCol="0" anchor="t"/>
          <a:lstStyle/>
          <a:p>
            <a:pPr algn="ctr" indent="0" marL="0">
              <a:lnSpc>
                <a:spcPct val="83000"/>
              </a:lnSpc>
              <a:buNone/>
            </a:pPr>
            <a:r>
              <a:rPr lang="en-US" sz="2350" dirty="0">
                <a:solidFill>
                  <a:srgbClr val="4C4C4D"/>
                </a:solidFill>
                <a:latin typeface="Crimson Pro SemiBold" pitchFamily="34" charset="0"/>
                <a:ea typeface="Crimson Pro SemiBold" pitchFamily="34" charset="-122"/>
                <a:cs typeface="Crimson Pro SemiBold" pitchFamily="34" charset="-120"/>
              </a:rPr>
              <a:t>$1.5–3.7M</a:t>
            </a:r>
            <a:endParaRPr lang="en-US" sz="2350" dirty="0"/>
          </a:p>
        </p:txBody>
      </p:sp>
      <p:sp>
        <p:nvSpPr>
          <p:cNvPr id="10" name="Text 8"/>
          <p:cNvSpPr/>
          <p:nvPr/>
        </p:nvSpPr>
        <p:spPr>
          <a:xfrm>
            <a:off x="7944643" y="1361182"/>
            <a:ext cx="3585577" cy="143966"/>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Avoided cost/year</a:t>
            </a:r>
            <a:endParaRPr lang="en-US" sz="900" dirty="0"/>
          </a:p>
        </p:txBody>
      </p:sp>
      <p:sp>
        <p:nvSpPr>
          <p:cNvPr id="11" name="Text 9"/>
          <p:cNvSpPr/>
          <p:nvPr/>
        </p:nvSpPr>
        <p:spPr>
          <a:xfrm>
            <a:off x="7944643" y="1532037"/>
            <a:ext cx="3585577" cy="109637"/>
          </a:xfrm>
          <a:prstGeom prst="rect">
            <a:avLst/>
          </a:prstGeom>
          <a:noFill/>
          <a:ln/>
        </p:spPr>
        <p:txBody>
          <a:bodyPr wrap="none" lIns="0" tIns="0" rIns="0" bIns="0" rtlCol="0" anchor="t"/>
          <a:lstStyle/>
          <a:p>
            <a:pPr algn="ctr" indent="0" marL="0">
              <a:lnSpc>
                <a:spcPct val="99000"/>
              </a:lnSpc>
              <a:buNone/>
            </a:pPr>
            <a:r>
              <a:rPr lang="en-US" sz="700" dirty="0">
                <a:solidFill>
                  <a:srgbClr val="4C4C4D"/>
                </a:solidFill>
                <a:latin typeface="Heebo" pitchFamily="34" charset="0"/>
                <a:ea typeface="Heebo" pitchFamily="34" charset="-122"/>
                <a:cs typeface="Heebo" pitchFamily="34" charset="-120"/>
              </a:rPr>
              <a:t>At US$316–791/case hospitalisation cost (Rp 24–59 billion)</a:t>
            </a:r>
            <a:endParaRPr lang="en-US" sz="700" dirty="0"/>
          </a:p>
        </p:txBody>
      </p:sp>
      <p:sp>
        <p:nvSpPr>
          <p:cNvPr id="12" name="Text 10"/>
          <p:cNvSpPr/>
          <p:nvPr/>
        </p:nvSpPr>
        <p:spPr>
          <a:xfrm>
            <a:off x="661475" y="1692176"/>
            <a:ext cx="11478330" cy="109637"/>
          </a:xfrm>
          <a:prstGeom prst="rect">
            <a:avLst/>
          </a:prstGeom>
          <a:noFill/>
          <a:ln/>
        </p:spPr>
        <p:txBody>
          <a:bodyPr wrap="none" lIns="0" tIns="0" rIns="0" bIns="0" rtlCol="0" anchor="t"/>
          <a:lstStyle/>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Prevent just 10% of peak-season cases (an assumption, not a finding) = 4,656 cases/year. For scale, dengue costs Indonesia US$381–681M/year (Nadjib 2019; Wilastonegoro 2020).</a:t>
            </a:r>
            <a:endParaRPr lang="en-US" sz="700" dirty="0"/>
          </a:p>
        </p:txBody>
      </p:sp>
      <p:sp>
        <p:nvSpPr>
          <p:cNvPr id="13" name="Text 11"/>
          <p:cNvSpPr/>
          <p:nvPr/>
        </p:nvSpPr>
        <p:spPr>
          <a:xfrm>
            <a:off x="661475" y="1897162"/>
            <a:ext cx="6985917" cy="143966"/>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Avoided cost by scenario</a:t>
            </a:r>
            <a:endParaRPr lang="en-US" sz="900" dirty="0"/>
          </a:p>
        </p:txBody>
      </p:sp>
      <p:pic>
        <p:nvPicPr>
          <p:cNvPr id="14" name="Image 0" descr="preencoded.png">    </p:cNvPr>
          <p:cNvPicPr>
            <a:picLocks noChangeAspect="1"/>
          </p:cNvPicPr>
          <p:nvPr/>
        </p:nvPicPr>
        <p:blipFill>
          <a:blip r:embed="rId1"/>
          <a:stretch>
            <a:fillRect/>
          </a:stretch>
        </p:blipFill>
        <p:spPr>
          <a:xfrm>
            <a:off x="3278105" y="2091630"/>
            <a:ext cx="1752556" cy="3732213"/>
          </a:xfrm>
          <a:prstGeom prst="rect">
            <a:avLst/>
          </a:prstGeom>
        </p:spPr>
      </p:pic>
      <p:sp>
        <p:nvSpPr>
          <p:cNvPr id="15" name="Text 12"/>
          <p:cNvSpPr/>
          <p:nvPr/>
        </p:nvSpPr>
        <p:spPr>
          <a:xfrm>
            <a:off x="7878565" y="3212703"/>
            <a:ext cx="3657905" cy="143966"/>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Lead time, every El Niño episode since 2009</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878565" y="3407172"/>
          <a:ext cx="3657905" cy="914400"/>
        </p:xfrm>
        <a:graphic>
          <a:graphicData uri="http://schemas.openxmlformats.org/drawingml/2006/table">
            <a:tbl>
              <a:tblPr/>
              <a:tblGrid>
                <a:gridCol w="914476"/>
                <a:gridCol w="914476"/>
                <a:gridCol w="914476"/>
                <a:gridCol w="914476"/>
              </a:tblGrid>
              <a:tr h="179284">
                <a:tc>
                  <a:txBody>
                    <a:bodyPr/>
                    <a:lstStyle/>
                    <a:p>
                      <a:pPr algn="l" indent="0" marL="0">
                        <a:buNone/>
                      </a:pPr>
                      <a:r>
                        <a:rPr lang="en-US" sz="800" b="1" dirty="0">
                          <a:solidFill>
                            <a:srgbClr val="4C4C4D"/>
                          </a:solidFill>
                          <a:latin typeface="Heebo" pitchFamily="34" charset="0"/>
                          <a:ea typeface="Heebo" pitchFamily="34" charset="-122"/>
                          <a:cs typeface="Heebo" pitchFamily="34" charset="-120"/>
                        </a:rPr>
                        <a:t>Episode</a:t>
                      </a:r>
                      <a:endParaRPr lang="en-US" sz="800" dirty="0">
                        <a:latin typeface="Heebo" charset="0"/>
                        <a:ea typeface="Heebo" charset="0"/>
                        <a:cs typeface="Heebo" charset="0"/>
                      </a:endParaRPr>
                    </a:p>
                  </a:txBody>
                  <a:tcPr marL="92146" marR="9214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b="1" dirty="0">
                          <a:solidFill>
                            <a:srgbClr val="4C4C4D"/>
                          </a:solidFill>
                          <a:latin typeface="Heebo" pitchFamily="34" charset="0"/>
                          <a:ea typeface="Heebo" pitchFamily="34" charset="-122"/>
                          <a:cs typeface="Heebo" pitchFamily="34" charset="-120"/>
                        </a:rPr>
                        <a:t>Alarm</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b="1" dirty="0">
                          <a:solidFill>
                            <a:srgbClr val="4C4C4D"/>
                          </a:solidFill>
                          <a:latin typeface="Heebo" pitchFamily="34" charset="0"/>
                          <a:ea typeface="Heebo" pitchFamily="34" charset="-122"/>
                          <a:cs typeface="Heebo" pitchFamily="34" charset="-120"/>
                        </a:rPr>
                        <a:t>Cases cross P75</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b="1" dirty="0">
                          <a:solidFill>
                            <a:srgbClr val="4C4C4D"/>
                          </a:solidFill>
                          <a:latin typeface="Heebo" pitchFamily="34" charset="0"/>
                          <a:ea typeface="Heebo" pitchFamily="34" charset="-122"/>
                          <a:cs typeface="Heebo" pitchFamily="34" charset="-120"/>
                        </a:rPr>
                        <a:t>Lead</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182459">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2009/10</a:t>
                      </a:r>
                      <a:endParaRPr lang="en-US" sz="800" dirty="0">
                        <a:latin typeface="Heebo" charset="0"/>
                        <a:ea typeface="Heebo" charset="0"/>
                        <a:cs typeface="Heebo" charset="0"/>
                      </a:endParaRPr>
                    </a:p>
                  </a:txBody>
                  <a:tcPr marL="92146" marR="9214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Dec 2009</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Jan 2010</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1 month</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182459">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2014/16</a:t>
                      </a:r>
                      <a:endParaRPr lang="en-US" sz="800" dirty="0">
                        <a:latin typeface="Heebo" charset="0"/>
                        <a:ea typeface="Heebo" charset="0"/>
                        <a:cs typeface="Heebo" charset="0"/>
                      </a:endParaRPr>
                    </a:p>
                  </a:txBody>
                  <a:tcPr marL="92146" marR="9214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Feb 2015</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Feb 2015</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0</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182459">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2018/19</a:t>
                      </a:r>
                      <a:endParaRPr lang="en-US" sz="800" dirty="0">
                        <a:latin typeface="Heebo" charset="0"/>
                        <a:ea typeface="Heebo" charset="0"/>
                        <a:cs typeface="Heebo" charset="0"/>
                      </a:endParaRPr>
                    </a:p>
                  </a:txBody>
                  <a:tcPr marL="92146" marR="9214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Jan 2019</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Jan 2019</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0</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182459">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2019/20</a:t>
                      </a:r>
                      <a:endParaRPr lang="en-US" sz="800" dirty="0">
                        <a:latin typeface="Heebo" charset="0"/>
                        <a:ea typeface="Heebo" charset="0"/>
                        <a:cs typeface="Heebo" charset="0"/>
                      </a:endParaRPr>
                    </a:p>
                  </a:txBody>
                  <a:tcPr marL="92146" marR="9214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Mar 2020</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Mar 2020</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0</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r h="179284">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2023/24</a:t>
                      </a:r>
                      <a:endParaRPr lang="en-US" sz="800" dirty="0">
                        <a:latin typeface="Heebo" charset="0"/>
                        <a:ea typeface="Heebo" charset="0"/>
                        <a:cs typeface="Heebo" charset="0"/>
                      </a:endParaRPr>
                    </a:p>
                  </a:txBody>
                  <a:tcPr marL="92146" marR="9214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Sep 2023</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Dec 2023</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algn="l" indent="0" marL="0">
                        <a:buNone/>
                      </a:pPr>
                      <a:r>
                        <a:rPr lang="en-US" sz="800" dirty="0">
                          <a:solidFill>
                            <a:srgbClr val="4C4C4D"/>
                          </a:solidFill>
                          <a:latin typeface="Heebo" pitchFamily="34" charset="0"/>
                          <a:ea typeface="Heebo" pitchFamily="34" charset="-122"/>
                          <a:cs typeface="Heebo" pitchFamily="34" charset="-120"/>
                        </a:rPr>
                        <a:t>3 months</a:t>
                      </a:r>
                      <a:endParaRPr lang="en-US" sz="800" dirty="0">
                        <a:latin typeface="Heebo" charset="0"/>
                        <a:ea typeface="Heebo" charset="0"/>
                        <a:cs typeface="Heebo" charset="0"/>
                      </a:endParaRPr>
                    </a:p>
                  </a:txBody>
                  <a:tcPr marL="92146" marR="9214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bl>
          </a:graphicData>
        </a:graphic>
      </p:graphicFrame>
      <p:sp>
        <p:nvSpPr>
          <p:cNvPr id="17" name="Text 13"/>
          <p:cNvSpPr/>
          <p:nvPr/>
        </p:nvSpPr>
        <p:spPr>
          <a:xfrm>
            <a:off x="661475" y="5924848"/>
            <a:ext cx="10868745" cy="379413"/>
          </a:xfrm>
          <a:prstGeom prst="rect">
            <a:avLst/>
          </a:prstGeom>
          <a:noFill/>
          <a:ln/>
        </p:spPr>
        <p:txBody>
          <a:bodyPr wrap="square" lIns="0" tIns="0" rIns="0" bIns="0" rtlCol="0" anchor="t">
            <a:normAutofit/>
          </a:bodyPr>
          <a:lstStyle/>
          <a:p>
            <a:pPr algn="l" indent="0" marL="0">
              <a:lnSpc>
                <a:spcPct val="99000"/>
              </a:lnSpc>
              <a:spcAft>
                <a:spcPts val="350"/>
              </a:spcAft>
              <a:buNone/>
            </a:pPr>
            <a:r>
              <a:rPr lang="en-US" sz="700" dirty="0">
                <a:solidFill>
                  <a:srgbClr val="4C4C4D"/>
                </a:solidFill>
                <a:latin typeface="Heebo" pitchFamily="34" charset="0"/>
                <a:ea typeface="Heebo" pitchFamily="34" charset="-122"/>
                <a:cs typeface="Heebo" pitchFamily="34" charset="-120"/>
              </a:rPr>
              <a:t>The lead time is observed, not assumed. Three of five episodes gave zero months on observed ONI, and we print that. The value comes from the two that did not, and from the fact that NOAA and BMKG publish a forecast ONI months ahead of the observed one, on which the same rule fires earlier still.</a:t>
            </a:r>
            <a:endParaRPr lang="en-US" sz="700" dirty="0"/>
          </a:p>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Sources: cost per case from peer-reviewed Indonesian studies; case counts from our own panel. The cheapest anchor (US$90/episode) still gives US$0.42M, so we have not chosen the most flattering figure.</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19807"/>
            <a:ext cx="10868745" cy="283766"/>
          </a:xfrm>
          <a:prstGeom prst="rect">
            <a:avLst/>
          </a:prstGeom>
          <a:noFill/>
          <a:ln/>
        </p:spPr>
        <p:txBody>
          <a:bodyPr wrap="none" lIns="0" tIns="0" rIns="0" bIns="0" rtlCol="0" anchor="t"/>
          <a:lstStyle/>
          <a:p>
            <a:pPr algn="l" indent="0" marL="0">
              <a:lnSpc>
                <a:spcPct val="104000"/>
              </a:lnSpc>
              <a:buNone/>
            </a:pPr>
            <a:r>
              <a:rPr lang="en-US" sz="1750" dirty="0">
                <a:solidFill>
                  <a:srgbClr val="152D47"/>
                </a:solidFill>
                <a:latin typeface="Crimson Pro SemiBold" pitchFamily="34" charset="0"/>
                <a:ea typeface="Crimson Pro SemiBold" pitchFamily="34" charset="-122"/>
                <a:cs typeface="Crimson Pro SemiBold" pitchFamily="34" charset="-120"/>
              </a:rPr>
              <a:t>Limits &amp; data ethics: What we tested and threw away</a:t>
            </a:r>
            <a:endParaRPr lang="en-US" sz="1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890786"/>
            <a:ext cx="3593812" cy="697309"/>
          </a:xfrm>
          <a:prstGeom prst="rect">
            <a:avLst/>
          </a:prstGeom>
        </p:spPr>
      </p:pic>
      <p:sp>
        <p:nvSpPr>
          <p:cNvPr id="4" name="Text 1"/>
          <p:cNvSpPr/>
          <p:nvPr/>
        </p:nvSpPr>
        <p:spPr>
          <a:xfrm>
            <a:off x="815756" y="994271"/>
            <a:ext cx="3336048" cy="14188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Falsified innovation angle</a:t>
            </a:r>
            <a:endParaRPr lang="en-US" sz="850" dirty="0"/>
          </a:p>
        </p:txBody>
      </p:sp>
      <p:sp>
        <p:nvSpPr>
          <p:cNvPr id="5" name="Text 2"/>
          <p:cNvSpPr/>
          <p:nvPr/>
        </p:nvSpPr>
        <p:spPr>
          <a:xfrm>
            <a:off x="815756" y="1162248"/>
            <a:ext cx="3336048" cy="322362"/>
          </a:xfrm>
          <a:prstGeom prst="rect">
            <a:avLst/>
          </a:prstGeom>
          <a:noFill/>
          <a:ln/>
        </p:spPr>
        <p:txBody>
          <a:bodyPr wrap="square" lIns="0" tIns="0" rIns="0" bIns="0" rtlCol="0" anchor="t">
            <a:normAutofit/>
          </a:bodyPr>
          <a:lstStyle/>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"Drought × water access" looked promising (r = −0.31) but collapsed after controlling for El Niño (partial r = −0.15) and showed no moderation by piped access (ρ = +0.34, p = 0.46, n = 7). We dropped the claim.</a:t>
            </a:r>
            <a:endParaRPr lang="en-US" sz="7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8842" y="890786"/>
            <a:ext cx="3593911" cy="697309"/>
          </a:xfrm>
          <a:prstGeom prst="rect">
            <a:avLst/>
          </a:prstGeom>
        </p:spPr>
      </p:pic>
      <p:sp>
        <p:nvSpPr>
          <p:cNvPr id="7" name="Text 3"/>
          <p:cNvSpPr/>
          <p:nvPr/>
        </p:nvSpPr>
        <p:spPr>
          <a:xfrm>
            <a:off x="4453124" y="994271"/>
            <a:ext cx="3336147" cy="14188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Incomplete 2023–24 panel</a:t>
            </a:r>
            <a:endParaRPr lang="en-US" sz="850" dirty="0"/>
          </a:p>
        </p:txBody>
      </p:sp>
      <p:sp>
        <p:nvSpPr>
          <p:cNvPr id="8" name="Text 4"/>
          <p:cNvSpPr/>
          <p:nvPr/>
        </p:nvSpPr>
        <p:spPr>
          <a:xfrm>
            <a:off x="4453124" y="1162248"/>
            <a:ext cx="3336147" cy="214908"/>
          </a:xfrm>
          <a:prstGeom prst="rect">
            <a:avLst/>
          </a:prstGeom>
          <a:noFill/>
          <a:ln/>
        </p:spPr>
        <p:txBody>
          <a:bodyPr wrap="square" lIns="0" tIns="0" rIns="0" bIns="0" rtlCol="0" anchor="t">
            <a:normAutofit/>
          </a:bodyPr>
          <a:lstStyle/>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We do not claim a 2023–24 record, because our panel is incomplete for Vietnam and the Philippines after 2022.</a:t>
            </a:r>
            <a:endParaRPr lang="en-US" sz="7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6309" y="890786"/>
            <a:ext cx="3593911" cy="697309"/>
          </a:xfrm>
          <a:prstGeom prst="rect">
            <a:avLst/>
          </a:prstGeom>
        </p:spPr>
      </p:pic>
      <p:sp>
        <p:nvSpPr>
          <p:cNvPr id="10" name="Text 5"/>
          <p:cNvSpPr/>
          <p:nvPr/>
        </p:nvSpPr>
        <p:spPr>
          <a:xfrm>
            <a:off x="8090591" y="994271"/>
            <a:ext cx="3336147" cy="14188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Incidence years limited</a:t>
            </a:r>
            <a:endParaRPr lang="en-US" sz="850" dirty="0"/>
          </a:p>
        </p:txBody>
      </p:sp>
      <p:sp>
        <p:nvSpPr>
          <p:cNvPr id="11" name="Text 6"/>
          <p:cNvSpPr/>
          <p:nvPr/>
        </p:nvSpPr>
        <p:spPr>
          <a:xfrm>
            <a:off x="8090591" y="1162248"/>
            <a:ext cx="3336147" cy="214908"/>
          </a:xfrm>
          <a:prstGeom prst="rect">
            <a:avLst/>
          </a:prstGeom>
          <a:noFill/>
          <a:ln/>
        </p:spPr>
        <p:txBody>
          <a:bodyPr wrap="square" lIns="0" tIns="0" rIns="0" bIns="0" rtlCol="0" anchor="t">
            <a:normAutofit/>
          </a:bodyPr>
          <a:lstStyle/>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Incidence only for 2018–2020, the only years with official BPS denominators. Elsewhere we use raw counts and never rank regions by them.</a:t>
            </a:r>
            <a:endParaRPr lang="en-US" sz="7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1631652"/>
            <a:ext cx="3593812" cy="697309"/>
          </a:xfrm>
          <a:prstGeom prst="rect">
            <a:avLst/>
          </a:prstGeom>
        </p:spPr>
      </p:pic>
      <p:sp>
        <p:nvSpPr>
          <p:cNvPr id="13" name="Text 7"/>
          <p:cNvSpPr/>
          <p:nvPr/>
        </p:nvSpPr>
        <p:spPr>
          <a:xfrm>
            <a:off x="815756" y="1735138"/>
            <a:ext cx="3336048" cy="14188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Flood association reversal</a:t>
            </a:r>
            <a:endParaRPr lang="en-US" sz="850" dirty="0"/>
          </a:p>
        </p:txBody>
      </p:sp>
      <p:sp>
        <p:nvSpPr>
          <p:cNvPr id="14" name="Text 8"/>
          <p:cNvSpPr/>
          <p:nvPr/>
        </p:nvSpPr>
        <p:spPr>
          <a:xfrm>
            <a:off x="815756" y="1903115"/>
            <a:ext cx="3336048" cy="322362"/>
          </a:xfrm>
          <a:prstGeom prst="rect">
            <a:avLst/>
          </a:prstGeom>
          <a:noFill/>
          <a:ln/>
        </p:spPr>
        <p:txBody>
          <a:bodyPr wrap="square" lIns="0" tIns="0" rIns="0" bIns="0" rtlCol="0" anchor="t">
            <a:normAutofit/>
          </a:bodyPr>
          <a:lstStyle/>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Flood and disaster records look correlated with dengue (r = +0.66) until the counts are divided by population, at which point the association reverses (r = −0.14). We report the null.</a:t>
            </a:r>
            <a:endParaRPr lang="en-US" sz="7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98842" y="1631652"/>
            <a:ext cx="3593911" cy="697309"/>
          </a:xfrm>
          <a:prstGeom prst="rect">
            <a:avLst/>
          </a:prstGeom>
        </p:spPr>
      </p:pic>
      <p:sp>
        <p:nvSpPr>
          <p:cNvPr id="16" name="Text 9"/>
          <p:cNvSpPr/>
          <p:nvPr/>
        </p:nvSpPr>
        <p:spPr>
          <a:xfrm>
            <a:off x="4453124" y="1735138"/>
            <a:ext cx="3336147" cy="141883"/>
          </a:xfrm>
          <a:prstGeom prst="rect">
            <a:avLst/>
          </a:prstGeom>
          <a:noFill/>
          <a:ln/>
        </p:spPr>
        <p:txBody>
          <a:bodyPr wrap="none" lIns="0" tIns="0" rIns="0" bIns="0" rtlCol="0" anchor="t"/>
          <a:lstStyle/>
          <a:p>
            <a:pPr algn="l" indent="0" marL="0">
              <a:lnSpc>
                <a:spcPct val="104000"/>
              </a:lnSpc>
              <a:buNone/>
            </a:pPr>
            <a:r>
              <a:rPr lang="en-US" sz="850" dirty="0">
                <a:solidFill>
                  <a:srgbClr val="4C4C4D"/>
                </a:solidFill>
                <a:latin typeface="Crimson Pro SemiBold" pitchFamily="34" charset="0"/>
                <a:ea typeface="Crimson Pro SemiBold" pitchFamily="34" charset="-122"/>
                <a:cs typeface="Crimson Pro SemiBold" pitchFamily="34" charset="-120"/>
              </a:rPr>
              <a:t>Correlation ≠ causation</a:t>
            </a:r>
            <a:endParaRPr lang="en-US" sz="850" dirty="0"/>
          </a:p>
        </p:txBody>
      </p:sp>
      <p:sp>
        <p:nvSpPr>
          <p:cNvPr id="17" name="Text 10"/>
          <p:cNvSpPr/>
          <p:nvPr/>
        </p:nvSpPr>
        <p:spPr>
          <a:xfrm>
            <a:off x="4453124" y="1903115"/>
            <a:ext cx="3336147" cy="107454"/>
          </a:xfrm>
          <a:prstGeom prst="rect">
            <a:avLst/>
          </a:prstGeom>
          <a:noFill/>
          <a:ln/>
        </p:spPr>
        <p:txBody>
          <a:bodyPr wrap="none" lIns="0" tIns="0" rIns="0" bIns="0" rtlCol="0" anchor="t"/>
          <a:lstStyle/>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This is an early-warning claim, and the mechanism is cited from the literature.</a:t>
            </a:r>
            <a:endParaRPr lang="en-US" sz="700" dirty="0"/>
          </a:p>
        </p:txBody>
      </p:sp>
      <p:sp>
        <p:nvSpPr>
          <p:cNvPr id="18" name="Text 11"/>
          <p:cNvSpPr/>
          <p:nvPr/>
        </p:nvSpPr>
        <p:spPr>
          <a:xfrm>
            <a:off x="661475" y="2421533"/>
            <a:ext cx="6987107" cy="141883"/>
          </a:xfrm>
          <a:prstGeom prst="rect">
            <a:avLst/>
          </a:prstGeom>
          <a:noFill/>
          <a:ln/>
        </p:spPr>
        <p:txBody>
          <a:bodyPr wrap="none" lIns="0" tIns="0" rIns="0" bIns="0" rtlCol="0" anchor="t"/>
          <a:lstStyle/>
          <a:p>
            <a:pPr algn="l" indent="0" marL="0">
              <a:lnSpc>
                <a:spcPct val="104000"/>
              </a:lnSpc>
              <a:buNone/>
            </a:pPr>
            <a:r>
              <a:rPr lang="en-US" sz="850" dirty="0">
                <a:solidFill>
                  <a:srgbClr val="152D47"/>
                </a:solidFill>
                <a:latin typeface="Crimson Pro SemiBold" pitchFamily="34" charset="0"/>
                <a:ea typeface="Crimson Pro SemiBold" pitchFamily="34" charset="-122"/>
                <a:cs typeface="Crimson Pro SemiBold" pitchFamily="34" charset="-120"/>
              </a:rPr>
              <a:t>No relationship (ρ = +0.34, p = 0.46, n = 7)</a:t>
            </a:r>
            <a:endParaRPr lang="en-US" sz="850" dirty="0"/>
          </a:p>
        </p:txBody>
      </p:sp>
      <p:pic>
        <p:nvPicPr>
          <p:cNvPr id="19" name="Image 5" descr="preencoded.png">    </p:cNvPr>
          <p:cNvPicPr>
            <a:picLocks noChangeAspect="1"/>
          </p:cNvPicPr>
          <p:nvPr/>
        </p:nvPicPr>
        <p:blipFill>
          <a:blip r:embed="rId11"/>
          <a:stretch>
            <a:fillRect/>
          </a:stretch>
        </p:blipFill>
        <p:spPr>
          <a:xfrm>
            <a:off x="2229786" y="2612430"/>
            <a:ext cx="3850385" cy="3677146"/>
          </a:xfrm>
          <a:prstGeom prst="rect">
            <a:avLst/>
          </a:prstGeom>
        </p:spPr>
      </p:pic>
      <p:sp>
        <p:nvSpPr>
          <p:cNvPr id="20" name="Text 12"/>
          <p:cNvSpPr/>
          <p:nvPr/>
        </p:nvSpPr>
        <p:spPr>
          <a:xfrm>
            <a:off x="8012607" y="4123730"/>
            <a:ext cx="3523864" cy="214908"/>
          </a:xfrm>
          <a:prstGeom prst="rect">
            <a:avLst/>
          </a:prstGeom>
          <a:noFill/>
          <a:ln/>
        </p:spPr>
        <p:txBody>
          <a:bodyPr wrap="square" lIns="0" tIns="0" rIns="0" bIns="0" rtlCol="0" anchor="t">
            <a:normAutofit/>
          </a:bodyPr>
          <a:lstStyle/>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A rule that survives its own falsification tests is worth more to a health office than a larger claim that has never been tested.</a:t>
            </a:r>
            <a:endParaRPr lang="en-US" sz="700" dirty="0"/>
          </a:p>
        </p:txBody>
      </p:sp>
      <p:sp>
        <p:nvSpPr>
          <p:cNvPr id="21" name="Shape 13"/>
          <p:cNvSpPr/>
          <p:nvPr/>
        </p:nvSpPr>
        <p:spPr>
          <a:xfrm>
            <a:off x="7876383" y="4084538"/>
            <a:ext cx="12700" cy="293291"/>
          </a:xfrm>
          <a:prstGeom prst="roundRect">
            <a:avLst>
              <a:gd name="adj" fmla="val 49999"/>
            </a:avLst>
          </a:prstGeom>
          <a:solidFill>
            <a:srgbClr val="2150FE"/>
          </a:solidFill>
          <a:ln/>
        </p:spPr>
      </p:sp>
      <p:sp>
        <p:nvSpPr>
          <p:cNvPr id="22" name="Text 14"/>
          <p:cNvSpPr/>
          <p:nvPr/>
        </p:nvSpPr>
        <p:spPr>
          <a:xfrm>
            <a:off x="7876383" y="4426843"/>
            <a:ext cx="3660088" cy="214908"/>
          </a:xfrm>
          <a:prstGeom prst="rect">
            <a:avLst/>
          </a:prstGeom>
          <a:noFill/>
          <a:ln/>
        </p:spPr>
        <p:txBody>
          <a:bodyPr wrap="square" lIns="0" tIns="0" rIns="0" bIns="0" rtlCol="0" anchor="t">
            <a:normAutofit/>
          </a:bodyPr>
          <a:lstStyle/>
          <a:p>
            <a:pPr algn="l" indent="0" marL="0">
              <a:lnSpc>
                <a:spcPct val="99000"/>
              </a:lnSpc>
              <a:buNone/>
            </a:pPr>
            <a:r>
              <a:rPr lang="en-US" sz="700" dirty="0">
                <a:solidFill>
                  <a:srgbClr val="4C4C4D"/>
                </a:solidFill>
                <a:latin typeface="Heebo" pitchFamily="34" charset="0"/>
                <a:ea typeface="Heebo" pitchFamily="34" charset="-122"/>
                <a:cs typeface="Heebo" pitchFamily="34" charset="-120"/>
              </a:rPr>
              <a:t>This page is not an apology. We tested our own best idea, it failed the test, and we removed it.</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84895"/>
            <a:ext cx="10868745" cy="341908"/>
          </a:xfrm>
          <a:prstGeom prst="rect">
            <a:avLst/>
          </a:prstGeom>
          <a:noFill/>
          <a:ln/>
        </p:spPr>
        <p:txBody>
          <a:bodyPr wrap="none" lIns="0" tIns="0" rIns="0" bIns="0" rtlCol="0" anchor="t"/>
          <a:lstStyle/>
          <a:p>
            <a:pPr algn="l" indent="0" marL="0">
              <a:lnSpc>
                <a:spcPct val="104000"/>
              </a:lnSpc>
              <a:buNone/>
            </a:pPr>
            <a:r>
              <a:rPr lang="en-US" sz="2150" dirty="0">
                <a:solidFill>
                  <a:srgbClr val="152D47"/>
                </a:solidFill>
                <a:latin typeface="Crimson Pro SemiBold" pitchFamily="34" charset="0"/>
                <a:ea typeface="Crimson Pro SemiBold" pitchFamily="34" charset="-122"/>
                <a:cs typeface="Crimson Pro SemiBold" pitchFamily="34" charset="-120"/>
              </a:rPr>
              <a:t>The product: Pawang: the rule, delivered on the first of every month</a:t>
            </a:r>
            <a:endParaRPr lang="en-US" sz="2150" dirty="0"/>
          </a:p>
        </p:txBody>
      </p:sp>
      <p:sp>
        <p:nvSpPr>
          <p:cNvPr id="3" name="Text 1"/>
          <p:cNvSpPr/>
          <p:nvPr/>
        </p:nvSpPr>
        <p:spPr>
          <a:xfrm>
            <a:off x="661475" y="1053405"/>
            <a:ext cx="10868745" cy="624086"/>
          </a:xfrm>
          <a:prstGeom prst="rect">
            <a:avLst/>
          </a:prstGeom>
          <a:noFill/>
          <a:ln/>
        </p:spPr>
        <p:txBody>
          <a:bodyPr wrap="square" lIns="0" tIns="0" rIns="0" bIns="0" rtlCol="0" anchor="t">
            <a:normAutofit/>
          </a:bodyPr>
          <a:lstStyle/>
          <a:p>
            <a:pPr algn="l" indent="0" marL="0">
              <a:lnSpc>
                <a:spcPct val="105000"/>
              </a:lnSpc>
              <a:spcAft>
                <a:spcPts val="550"/>
              </a:spcAft>
              <a:buNone/>
            </a:pPr>
            <a:r>
              <a:rPr lang="en-US" sz="850" dirty="0">
                <a:solidFill>
                  <a:srgbClr val="4C4C4D"/>
                </a:solidFill>
                <a:latin typeface="Heebo" pitchFamily="34" charset="0"/>
                <a:ea typeface="Heebo" pitchFamily="34" charset="-122"/>
                <a:cs typeface="Heebo" pitchFamily="34" charset="-120"/>
              </a:rPr>
              <a:t>Pawang is the Indonesian and Malay word for someone who claims to know the weather months ahead. This one shows its working: a single SAC page that a district officer opens on the 1st, together with an automatic WhatsApp advisory. It escalates; it never declares an emergency.</a:t>
            </a:r>
            <a:endParaRPr lang="en-US" sz="850" dirty="0"/>
          </a:p>
          <a:p>
            <a:pPr algn="l" indent="0" marL="0">
              <a:lnSpc>
                <a:spcPct val="105000"/>
              </a:lnSpc>
              <a:buNone/>
            </a:pPr>
            <a:r>
              <a:rPr lang="en-US" sz="850" dirty="0">
                <a:solidFill>
                  <a:srgbClr val="4C4C4D"/>
                </a:solidFill>
                <a:latin typeface="Heebo" pitchFamily="34" charset="0"/>
                <a:ea typeface="Heebo" pitchFamily="34" charset="-122"/>
                <a:cs typeface="Heebo" pitchFamily="34" charset="-120"/>
              </a:rPr>
              <a:t>The digital layer does the fetching, not the deciding. SAC refreshes the NOAA ONI feed and the office's own case calendar on a schedule, and SAC Smart Predict runs beside the rule as a second opinion. The alert itself remains the two-condition rule, which can be audited by hand, so no one has to trust a model they cannot inspect.</a:t>
            </a:r>
            <a:endParaRPr lang="en-US" sz="850" dirty="0"/>
          </a:p>
        </p:txBody>
      </p:sp>
      <p:sp>
        <p:nvSpPr>
          <p:cNvPr id="4" name="Shape 2"/>
          <p:cNvSpPr/>
          <p:nvPr/>
        </p:nvSpPr>
        <p:spPr>
          <a:xfrm>
            <a:off x="661475" y="1748730"/>
            <a:ext cx="10868745" cy="313035"/>
          </a:xfrm>
          <a:prstGeom prst="roundRect">
            <a:avLst>
              <a:gd name="adj" fmla="val 5243"/>
            </a:avLst>
          </a:prstGeom>
          <a:solidFill>
            <a:srgbClr val="CCD7FF"/>
          </a:solidFill>
          <a:ln/>
        </p:spPr>
      </p:sp>
      <p:pic>
        <p:nvPicPr>
          <p:cNvPr id="5" name="Image 0" descr="preencoded.png">    </p:cNvPr>
          <p:cNvPicPr>
            <a:picLocks noChangeAspect="1"/>
          </p:cNvPicPr>
          <p:nvPr/>
        </p:nvPicPr>
        <p:blipFill>
          <a:blip r:embed="rId1"/>
          <a:stretch>
            <a:fillRect/>
          </a:stretch>
        </p:blipFill>
        <p:spPr>
          <a:xfrm>
            <a:off x="770811" y="1839317"/>
            <a:ext cx="136720" cy="109339"/>
          </a:xfrm>
          <a:prstGeom prst="rect">
            <a:avLst/>
          </a:prstGeom>
        </p:spPr>
      </p:pic>
      <p:sp>
        <p:nvSpPr>
          <p:cNvPr id="6" name="Text 3"/>
          <p:cNvSpPr/>
          <p:nvPr/>
        </p:nvSpPr>
        <p:spPr>
          <a:xfrm>
            <a:off x="1016868" y="1839317"/>
            <a:ext cx="11013601" cy="138212"/>
          </a:xfrm>
          <a:prstGeom prst="rect">
            <a:avLst/>
          </a:prstGeom>
          <a:noFill/>
          <a:ln/>
        </p:spPr>
        <p:txBody>
          <a:bodyPr wrap="none" lIns="0" tIns="0" rIns="0" bIns="0" rtlCol="0" anchor="t"/>
          <a:lstStyle/>
          <a:p>
            <a:pPr algn="l" indent="0" marL="0">
              <a:lnSpc>
                <a:spcPct val="105000"/>
              </a:lnSpc>
              <a:buNone/>
            </a:pPr>
            <a:r>
              <a:rPr lang="en-US" sz="850" b="1" dirty="0">
                <a:solidFill>
                  <a:srgbClr val="000000"/>
                </a:solidFill>
                <a:latin typeface="Heebo Bold" pitchFamily="34" charset="0"/>
                <a:ea typeface="Heebo Bold" pitchFamily="34" charset="-122"/>
                <a:cs typeface="Heebo Bold" pitchFamily="34" charset="-120"/>
              </a:rPr>
              <a:t>What Bali opens on 1 October 2026:</a:t>
            </a:r>
            <a:pPr algn="l" indent="0" marL="0">
              <a:lnSpc>
                <a:spcPct val="105000"/>
              </a:lnSpc>
              <a:buNone/>
            </a:pPr>
            <a:r>
              <a:rPr lang="en-US" sz="850" dirty="0">
                <a:solidFill>
                  <a:srgbClr val="000000"/>
                </a:solidFill>
                <a:latin typeface="Heebo" pitchFamily="34" charset="0"/>
                <a:ea typeface="Heebo" pitchFamily="34" charset="-122"/>
                <a:cs typeface="Heebo" pitchFamily="34" charset="-120"/>
              </a:rPr>
              <a:t> ALERT — Jan–Apr 2027. ONI in Sep 2026 was +1.3 (≥ 0.5). Expect a top-quartile season. Act now, not in January.</a:t>
            </a:r>
            <a:endParaRPr lang="en-US" sz="850" dirty="0"/>
          </a:p>
        </p:txBody>
      </p:sp>
      <p:sp>
        <p:nvSpPr>
          <p:cNvPr id="7" name="Text 4"/>
          <p:cNvSpPr/>
          <p:nvPr/>
        </p:nvSpPr>
        <p:spPr>
          <a:xfrm>
            <a:off x="661475" y="2156718"/>
            <a:ext cx="10868745" cy="170954"/>
          </a:xfrm>
          <a:prstGeom prst="rect">
            <a:avLst/>
          </a:prstGeom>
          <a:noFill/>
          <a:ln/>
        </p:spPr>
        <p:txBody>
          <a:bodyPr wrap="none" lIns="0" tIns="0" rIns="0" bIns="0" rtlCol="0" anchor="t"/>
          <a:lstStyle/>
          <a:p>
            <a:pPr algn="l" indent="0" marL="0">
              <a:lnSpc>
                <a:spcPct val="104000"/>
              </a:lnSpc>
              <a:buNone/>
            </a:pPr>
            <a:r>
              <a:rPr lang="en-US" sz="1050" dirty="0">
                <a:solidFill>
                  <a:srgbClr val="152D47"/>
                </a:solidFill>
                <a:latin typeface="Crimson Pro SemiBold" pitchFamily="34" charset="0"/>
                <a:ea typeface="Crimson Pro SemiBold" pitchFamily="34" charset="-122"/>
                <a:cs typeface="Crimson Pro SemiBold" pitchFamily="34" charset="-120"/>
              </a:rPr>
              <a:t>When the rule fired, 2010–2024</a:t>
            </a:r>
            <a:endParaRPr lang="en-US" sz="1050" dirty="0"/>
          </a:p>
        </p:txBody>
      </p:sp>
      <p:pic>
        <p:nvPicPr>
          <p:cNvPr id="8" name="Image 1" descr="preencoded.png">    </p:cNvPr>
          <p:cNvPicPr>
            <a:picLocks noChangeAspect="1"/>
          </p:cNvPicPr>
          <p:nvPr/>
        </p:nvPicPr>
        <p:blipFill>
          <a:blip r:embed="rId2"/>
          <a:stretch>
            <a:fillRect/>
          </a:stretch>
        </p:blipFill>
        <p:spPr>
          <a:xfrm>
            <a:off x="661475" y="2422624"/>
            <a:ext cx="7064595" cy="1875631"/>
          </a:xfrm>
          <a:prstGeom prst="rect">
            <a:avLst/>
          </a:prstGeom>
        </p:spPr>
      </p:pic>
      <p:sp>
        <p:nvSpPr>
          <p:cNvPr id="9" name="Text 5"/>
          <p:cNvSpPr/>
          <p:nvPr/>
        </p:nvSpPr>
        <p:spPr>
          <a:xfrm>
            <a:off x="661475" y="4393208"/>
            <a:ext cx="10868745" cy="170954"/>
          </a:xfrm>
          <a:prstGeom prst="rect">
            <a:avLst/>
          </a:prstGeom>
          <a:noFill/>
          <a:ln/>
        </p:spPr>
        <p:txBody>
          <a:bodyPr wrap="none" lIns="0" tIns="0" rIns="0" bIns="0" rtlCol="0" anchor="t"/>
          <a:lstStyle/>
          <a:p>
            <a:pPr algn="l" indent="0" marL="0">
              <a:lnSpc>
                <a:spcPct val="104000"/>
              </a:lnSpc>
              <a:buNone/>
            </a:pPr>
            <a:r>
              <a:rPr lang="en-US" sz="1050" dirty="0">
                <a:solidFill>
                  <a:srgbClr val="152D47"/>
                </a:solidFill>
                <a:latin typeface="Crimson Pro SemiBold" pitchFamily="34" charset="0"/>
                <a:ea typeface="Crimson Pro SemiBold" pitchFamily="34" charset="-122"/>
                <a:cs typeface="Crimson Pro SemiBold" pitchFamily="34" charset="-120"/>
              </a:rPr>
              <a:t>Who does what</a:t>
            </a:r>
            <a:endParaRPr lang="en-US" sz="1050" dirty="0"/>
          </a:p>
        </p:txBody>
      </p:sp>
      <p:sp>
        <p:nvSpPr>
          <p:cNvPr id="10" name="Shape 6"/>
          <p:cNvSpPr/>
          <p:nvPr/>
        </p:nvSpPr>
        <p:spPr>
          <a:xfrm>
            <a:off x="661475" y="4659114"/>
            <a:ext cx="5402723" cy="565845"/>
          </a:xfrm>
          <a:prstGeom prst="roundRect">
            <a:avLst>
              <a:gd name="adj" fmla="val 2901"/>
            </a:avLst>
          </a:prstGeom>
          <a:solidFill>
            <a:srgbClr val="F2EEEE"/>
          </a:solidFill>
          <a:ln/>
        </p:spPr>
      </p:sp>
      <p:sp>
        <p:nvSpPr>
          <p:cNvPr id="11" name="Text 7"/>
          <p:cNvSpPr/>
          <p:nvPr/>
        </p:nvSpPr>
        <p:spPr>
          <a:xfrm>
            <a:off x="770811" y="4768453"/>
            <a:ext cx="5184050" cy="170954"/>
          </a:xfrm>
          <a:prstGeom prst="rect">
            <a:avLst/>
          </a:prstGeom>
          <a:noFill/>
          <a:ln/>
        </p:spPr>
        <p:txBody>
          <a:bodyPr wrap="none" lIns="0" tIns="0" rIns="0" bIns="0" rtlCol="0" anchor="t"/>
          <a:lstStyle/>
          <a:p>
            <a:pPr algn="l" indent="0" marL="0">
              <a:lnSpc>
                <a:spcPct val="104000"/>
              </a:lnSpc>
              <a:buNone/>
            </a:pPr>
            <a:r>
              <a:rPr lang="en-US" sz="1050" dirty="0">
                <a:solidFill>
                  <a:srgbClr val="4C4C4D"/>
                </a:solidFill>
                <a:latin typeface="Crimson Pro SemiBold" pitchFamily="34" charset="0"/>
                <a:ea typeface="Crimson Pro SemiBold" pitchFamily="34" charset="-122"/>
                <a:cs typeface="Crimson Pro SemiBold" pitchFamily="34" charset="-120"/>
              </a:rPr>
              <a:t>District health office (gov't)</a:t>
            </a:r>
            <a:endParaRPr lang="en-US" sz="1050" dirty="0"/>
          </a:p>
        </p:txBody>
      </p:sp>
      <p:sp>
        <p:nvSpPr>
          <p:cNvPr id="12" name="Text 8"/>
          <p:cNvSpPr/>
          <p:nvPr/>
        </p:nvSpPr>
        <p:spPr>
          <a:xfrm>
            <a:off x="770811" y="4977408"/>
            <a:ext cx="5184050" cy="138212"/>
          </a:xfrm>
          <a:prstGeom prst="rect">
            <a:avLst/>
          </a:prstGeom>
          <a:noFill/>
          <a:ln/>
        </p:spPr>
        <p:txBody>
          <a:bodyPr wrap="none" lIns="0" tIns="0" rIns="0" bIns="0" rtlCol="0" anchor="t"/>
          <a:lstStyle/>
          <a:p>
            <a:pPr algn="l" indent="0" marL="0">
              <a:lnSpc>
                <a:spcPct val="105000"/>
              </a:lnSpc>
              <a:buNone/>
            </a:pPr>
            <a:r>
              <a:rPr lang="en-US" sz="850" dirty="0">
                <a:solidFill>
                  <a:srgbClr val="4C4C4D"/>
                </a:solidFill>
                <a:latin typeface="Heebo" pitchFamily="34" charset="0"/>
                <a:ea typeface="Heebo" pitchFamily="34" charset="-122"/>
                <a:cs typeface="Heebo" pitchFamily="34" charset="-120"/>
              </a:rPr>
              <a:t>Reads the advisory; moves PSN/3M, larviciding and stockpiles forward into the alerted window</a:t>
            </a:r>
            <a:endParaRPr lang="en-US" sz="850" dirty="0"/>
          </a:p>
        </p:txBody>
      </p:sp>
      <p:sp>
        <p:nvSpPr>
          <p:cNvPr id="13" name="Shape 9"/>
          <p:cNvSpPr/>
          <p:nvPr/>
        </p:nvSpPr>
        <p:spPr>
          <a:xfrm>
            <a:off x="6127497" y="4659114"/>
            <a:ext cx="5402723" cy="565845"/>
          </a:xfrm>
          <a:prstGeom prst="roundRect">
            <a:avLst>
              <a:gd name="adj" fmla="val 2901"/>
            </a:avLst>
          </a:prstGeom>
          <a:solidFill>
            <a:srgbClr val="F2EEEE"/>
          </a:solidFill>
          <a:ln/>
        </p:spPr>
      </p:sp>
      <p:sp>
        <p:nvSpPr>
          <p:cNvPr id="14" name="Text 10"/>
          <p:cNvSpPr/>
          <p:nvPr/>
        </p:nvSpPr>
        <p:spPr>
          <a:xfrm>
            <a:off x="6236834" y="4768453"/>
            <a:ext cx="5184050" cy="170954"/>
          </a:xfrm>
          <a:prstGeom prst="rect">
            <a:avLst/>
          </a:prstGeom>
          <a:noFill/>
          <a:ln/>
        </p:spPr>
        <p:txBody>
          <a:bodyPr wrap="none" lIns="0" tIns="0" rIns="0" bIns="0" rtlCol="0" anchor="t"/>
          <a:lstStyle/>
          <a:p>
            <a:pPr algn="l" indent="0" marL="0">
              <a:lnSpc>
                <a:spcPct val="104000"/>
              </a:lnSpc>
              <a:buNone/>
            </a:pPr>
            <a:r>
              <a:rPr lang="en-US" sz="1050" dirty="0">
                <a:solidFill>
                  <a:srgbClr val="4C4C4D"/>
                </a:solidFill>
                <a:latin typeface="Crimson Pro SemiBold" pitchFamily="34" charset="0"/>
                <a:ea typeface="Crimson Pro SemiBold" pitchFamily="34" charset="-122"/>
                <a:cs typeface="Crimson Pro SemiBold" pitchFamily="34" charset="-120"/>
              </a:rPr>
              <a:t>Ministry of Health · BMKG (gov't)</a:t>
            </a:r>
            <a:endParaRPr lang="en-US" sz="1050" dirty="0"/>
          </a:p>
        </p:txBody>
      </p:sp>
      <p:sp>
        <p:nvSpPr>
          <p:cNvPr id="15" name="Text 11"/>
          <p:cNvSpPr/>
          <p:nvPr/>
        </p:nvSpPr>
        <p:spPr>
          <a:xfrm>
            <a:off x="6236834" y="4977408"/>
            <a:ext cx="5184050" cy="138212"/>
          </a:xfrm>
          <a:prstGeom prst="rect">
            <a:avLst/>
          </a:prstGeom>
          <a:noFill/>
          <a:ln/>
        </p:spPr>
        <p:txBody>
          <a:bodyPr wrap="none" lIns="0" tIns="0" rIns="0" bIns="0" rtlCol="0" anchor="t"/>
          <a:lstStyle/>
          <a:p>
            <a:pPr algn="l" indent="0" marL="0">
              <a:lnSpc>
                <a:spcPct val="105000"/>
              </a:lnSpc>
              <a:buNone/>
            </a:pPr>
            <a:r>
              <a:rPr lang="en-US" sz="850" dirty="0">
                <a:solidFill>
                  <a:srgbClr val="4C4C4D"/>
                </a:solidFill>
                <a:latin typeface="Heebo" pitchFamily="34" charset="0"/>
                <a:ea typeface="Heebo" pitchFamily="34" charset="-122"/>
                <a:cs typeface="Heebo" pitchFamily="34" charset="-120"/>
              </a:rPr>
              <a:t>Own the monthly refresh; BMKG's forecast ONI stretches the notice past four months</a:t>
            </a:r>
            <a:endParaRPr lang="en-US" sz="850" dirty="0"/>
          </a:p>
        </p:txBody>
      </p:sp>
      <p:sp>
        <p:nvSpPr>
          <p:cNvPr id="16" name="Shape 12"/>
          <p:cNvSpPr/>
          <p:nvPr/>
        </p:nvSpPr>
        <p:spPr>
          <a:xfrm>
            <a:off x="661475" y="5288260"/>
            <a:ext cx="5402723" cy="565845"/>
          </a:xfrm>
          <a:prstGeom prst="roundRect">
            <a:avLst>
              <a:gd name="adj" fmla="val 2901"/>
            </a:avLst>
          </a:prstGeom>
          <a:solidFill>
            <a:srgbClr val="F2EEEE"/>
          </a:solidFill>
          <a:ln/>
        </p:spPr>
      </p:sp>
      <p:sp>
        <p:nvSpPr>
          <p:cNvPr id="17" name="Text 13"/>
          <p:cNvSpPr/>
          <p:nvPr/>
        </p:nvSpPr>
        <p:spPr>
          <a:xfrm>
            <a:off x="770811" y="5397599"/>
            <a:ext cx="5184050" cy="170954"/>
          </a:xfrm>
          <a:prstGeom prst="rect">
            <a:avLst/>
          </a:prstGeom>
          <a:noFill/>
          <a:ln/>
        </p:spPr>
        <p:txBody>
          <a:bodyPr wrap="none" lIns="0" tIns="0" rIns="0" bIns="0" rtlCol="0" anchor="t"/>
          <a:lstStyle/>
          <a:p>
            <a:pPr algn="l" indent="0" marL="0">
              <a:lnSpc>
                <a:spcPct val="104000"/>
              </a:lnSpc>
              <a:buNone/>
            </a:pPr>
            <a:r>
              <a:rPr lang="en-US" sz="1050" dirty="0">
                <a:solidFill>
                  <a:srgbClr val="4C4C4D"/>
                </a:solidFill>
                <a:latin typeface="Crimson Pro SemiBold" pitchFamily="34" charset="0"/>
                <a:ea typeface="Crimson Pro SemiBold" pitchFamily="34" charset="-122"/>
                <a:cs typeface="Crimson Pro SemiBold" pitchFamily="34" charset="-120"/>
              </a:rPr>
              <a:t>Jumantik cadres (NGO &amp; community)</a:t>
            </a:r>
            <a:endParaRPr lang="en-US" sz="1050" dirty="0"/>
          </a:p>
        </p:txBody>
      </p:sp>
      <p:sp>
        <p:nvSpPr>
          <p:cNvPr id="18" name="Text 14"/>
          <p:cNvSpPr/>
          <p:nvPr/>
        </p:nvSpPr>
        <p:spPr>
          <a:xfrm>
            <a:off x="770811" y="5606554"/>
            <a:ext cx="5184050" cy="138212"/>
          </a:xfrm>
          <a:prstGeom prst="rect">
            <a:avLst/>
          </a:prstGeom>
          <a:noFill/>
          <a:ln/>
        </p:spPr>
        <p:txBody>
          <a:bodyPr wrap="none" lIns="0" tIns="0" rIns="0" bIns="0" rtlCol="0" anchor="t"/>
          <a:lstStyle/>
          <a:p>
            <a:pPr algn="l" indent="0" marL="0">
              <a:lnSpc>
                <a:spcPct val="105000"/>
              </a:lnSpc>
              <a:buNone/>
            </a:pPr>
            <a:r>
              <a:rPr lang="en-US" sz="850" dirty="0">
                <a:solidFill>
                  <a:srgbClr val="4C4C4D"/>
                </a:solidFill>
                <a:latin typeface="Heebo" pitchFamily="34" charset="0"/>
                <a:ea typeface="Heebo" pitchFamily="34" charset="-122"/>
                <a:cs typeface="Heebo" pitchFamily="34" charset="-120"/>
              </a:rPr>
              <a:t>Larval checks and household messaging concentrated in the alerted months instead of spread thin all year</a:t>
            </a:r>
            <a:endParaRPr lang="en-US" sz="850" dirty="0"/>
          </a:p>
        </p:txBody>
      </p:sp>
      <p:sp>
        <p:nvSpPr>
          <p:cNvPr id="19" name="Shape 15"/>
          <p:cNvSpPr/>
          <p:nvPr/>
        </p:nvSpPr>
        <p:spPr>
          <a:xfrm>
            <a:off x="6127497" y="5288260"/>
            <a:ext cx="5402723" cy="565845"/>
          </a:xfrm>
          <a:prstGeom prst="roundRect">
            <a:avLst>
              <a:gd name="adj" fmla="val 2901"/>
            </a:avLst>
          </a:prstGeom>
          <a:solidFill>
            <a:srgbClr val="F2EEEE"/>
          </a:solidFill>
          <a:ln/>
        </p:spPr>
      </p:sp>
      <p:sp>
        <p:nvSpPr>
          <p:cNvPr id="20" name="Text 16"/>
          <p:cNvSpPr/>
          <p:nvPr/>
        </p:nvSpPr>
        <p:spPr>
          <a:xfrm>
            <a:off x="6236834" y="5397599"/>
            <a:ext cx="5184050" cy="170954"/>
          </a:xfrm>
          <a:prstGeom prst="rect">
            <a:avLst/>
          </a:prstGeom>
          <a:noFill/>
          <a:ln/>
        </p:spPr>
        <p:txBody>
          <a:bodyPr wrap="none" lIns="0" tIns="0" rIns="0" bIns="0" rtlCol="0" anchor="t"/>
          <a:lstStyle/>
          <a:p>
            <a:pPr algn="l" indent="0" marL="0">
              <a:lnSpc>
                <a:spcPct val="104000"/>
              </a:lnSpc>
              <a:buNone/>
            </a:pPr>
            <a:r>
              <a:rPr lang="en-US" sz="1050" dirty="0">
                <a:solidFill>
                  <a:srgbClr val="4C4C4D"/>
                </a:solidFill>
                <a:latin typeface="Crimson Pro SemiBold" pitchFamily="34" charset="0"/>
                <a:ea typeface="Crimson Pro SemiBold" pitchFamily="34" charset="-122"/>
                <a:cs typeface="Crimson Pro SemiBold" pitchFamily="34" charset="-120"/>
              </a:rPr>
              <a:t>Cloud &amp; telco partners (private)</a:t>
            </a:r>
            <a:endParaRPr lang="en-US" sz="1050" dirty="0"/>
          </a:p>
        </p:txBody>
      </p:sp>
      <p:sp>
        <p:nvSpPr>
          <p:cNvPr id="21" name="Text 17"/>
          <p:cNvSpPr/>
          <p:nvPr/>
        </p:nvSpPr>
        <p:spPr>
          <a:xfrm>
            <a:off x="6236834" y="5606554"/>
            <a:ext cx="5184050" cy="138212"/>
          </a:xfrm>
          <a:prstGeom prst="rect">
            <a:avLst/>
          </a:prstGeom>
          <a:noFill/>
          <a:ln/>
        </p:spPr>
        <p:txBody>
          <a:bodyPr wrap="none" lIns="0" tIns="0" rIns="0" bIns="0" rtlCol="0" anchor="t"/>
          <a:lstStyle/>
          <a:p>
            <a:pPr algn="l" indent="0" marL="0">
              <a:lnSpc>
                <a:spcPct val="105000"/>
              </a:lnSpc>
              <a:buNone/>
            </a:pPr>
            <a:r>
              <a:rPr lang="en-US" sz="850" dirty="0">
                <a:solidFill>
                  <a:srgbClr val="4C4C4D"/>
                </a:solidFill>
                <a:latin typeface="Heebo" pitchFamily="34" charset="0"/>
                <a:ea typeface="Heebo" pitchFamily="34" charset="-122"/>
                <a:cs typeface="Heebo" pitchFamily="34" charset="-120"/>
              </a:rPr>
              <a:t>Host the SAC tenant and the broadcast; one analyst-hour a month, no data team</a:t>
            </a:r>
            <a:endParaRPr lang="en-US" sz="850" dirty="0"/>
          </a:p>
        </p:txBody>
      </p:sp>
      <p:sp>
        <p:nvSpPr>
          <p:cNvPr id="22" name="Text 18"/>
          <p:cNvSpPr/>
          <p:nvPr/>
        </p:nvSpPr>
        <p:spPr>
          <a:xfrm>
            <a:off x="661475" y="5925344"/>
            <a:ext cx="10868745" cy="347663"/>
          </a:xfrm>
          <a:prstGeom prst="rect">
            <a:avLst/>
          </a:prstGeom>
          <a:noFill/>
          <a:ln/>
        </p:spPr>
        <p:txBody>
          <a:bodyPr wrap="square" lIns="0" tIns="0" rIns="0" bIns="0" rtlCol="0" anchor="t"/>
          <a:lstStyle/>
          <a:p>
            <a:pPr algn="l" indent="0" marL="0">
              <a:lnSpc>
                <a:spcPct val="105000"/>
              </a:lnSpc>
              <a:spcAft>
                <a:spcPts val="550"/>
              </a:spcAft>
              <a:buNone/>
            </a:pPr>
            <a:r>
              <a:rPr lang="en-US" sz="850" dirty="0">
                <a:solidFill>
                  <a:srgbClr val="4C4C4D"/>
                </a:solidFill>
                <a:latin typeface="Heebo" pitchFamily="34" charset="0"/>
                <a:ea typeface="Heebo" pitchFamily="34" charset="-122"/>
                <a:cs typeface="Heebo" pitchFamily="34" charset="-120"/>
              </a:rPr>
              <a:t>Scales by swapping one input: Thailand already validates with its own predictor (temperature anomaly, lag 2, lift 2.7). Any ASEAN member repeats the fit on its own records.</a:t>
            </a:r>
            <a:endParaRPr lang="en-US" sz="850" dirty="0"/>
          </a:p>
          <a:p>
            <a:pPr algn="l" indent="0" marL="0">
              <a:lnSpc>
                <a:spcPct val="105000"/>
              </a:lnSpc>
              <a:buNone/>
            </a:pPr>
            <a:r>
              <a:rPr lang="en-US" sz="850" dirty="0">
                <a:solidFill>
                  <a:srgbClr val="4C4C4D"/>
                </a:solidFill>
                <a:latin typeface="Heebo" pitchFamily="34" charset="0"/>
                <a:ea typeface="Heebo" pitchFamily="34" charset="-122"/>
                <a:cs typeface="Heebo" pitchFamily="34" charset="-120"/>
              </a:rPr>
              <a:t>The rule is the engine, not a feature of the product. Strip the dashboard away and a health office can still run Pawang on paper.</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53740"/>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52D47"/>
                </a:solidFill>
                <a:latin typeface="Crimson Pro SemiBold" pitchFamily="34" charset="0"/>
                <a:ea typeface="Crimson Pro SemiBold" pitchFamily="34" charset="-122"/>
                <a:cs typeface="Crimson Pro SemiBold" pitchFamily="34" charset="-120"/>
              </a:rPr>
              <a:t>References 1/2: Data sources</a:t>
            </a:r>
            <a:endParaRPr lang="en-US" sz="26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1133376"/>
            <a:ext cx="5395579" cy="480318"/>
          </a:xfrm>
          <a:prstGeom prst="rect">
            <a:avLst/>
          </a:prstGeom>
        </p:spPr>
      </p:pic>
      <p:sp>
        <p:nvSpPr>
          <p:cNvPr id="4" name="Text 1"/>
          <p:cNvSpPr/>
          <p:nvPr/>
        </p:nvSpPr>
        <p:spPr>
          <a:xfrm>
            <a:off x="831829" y="1152426"/>
            <a:ext cx="5206175"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OpenDengue V1.3</a:t>
            </a:r>
            <a:endParaRPr lang="en-US" sz="1300" dirty="0"/>
          </a:p>
        </p:txBody>
      </p:sp>
      <p:sp>
        <p:nvSpPr>
          <p:cNvPr id="5" name="Text 2"/>
          <p:cNvSpPr/>
          <p:nvPr/>
        </p:nvSpPr>
        <p:spPr>
          <a:xfrm>
            <a:off x="831829" y="1414661"/>
            <a:ext cx="5206175"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doi:10.6084/m9.figshare.24259573.v4</a:t>
            </a:r>
            <a:endParaRPr lang="en-US" sz="10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4641" y="1133376"/>
            <a:ext cx="5395579" cy="480318"/>
          </a:xfrm>
          <a:prstGeom prst="rect">
            <a:avLst/>
          </a:prstGeom>
        </p:spPr>
      </p:pic>
      <p:sp>
        <p:nvSpPr>
          <p:cNvPr id="7" name="Text 3"/>
          <p:cNvSpPr/>
          <p:nvPr/>
        </p:nvSpPr>
        <p:spPr>
          <a:xfrm>
            <a:off x="6324045" y="1152426"/>
            <a:ext cx="5206175"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World Bank Climate Change Knowledge Portal</a:t>
            </a:r>
            <a:endParaRPr lang="en-US" sz="1300" dirty="0"/>
          </a:p>
        </p:txBody>
      </p:sp>
      <p:sp>
        <p:nvSpPr>
          <p:cNvPr id="8" name="Text 4"/>
          <p:cNvSpPr/>
          <p:nvPr/>
        </p:nvSpPr>
        <p:spPr>
          <a:xfrm>
            <a:off x="6324045" y="1414661"/>
            <a:ext cx="5206175"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ERA5 0.25° monthly temperature and precipitation</a:t>
            </a:r>
            <a:endParaRPr lang="en-US" sz="10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1760835"/>
            <a:ext cx="5395579" cy="480318"/>
          </a:xfrm>
          <a:prstGeom prst="rect">
            <a:avLst/>
          </a:prstGeom>
        </p:spPr>
      </p:pic>
      <p:sp>
        <p:nvSpPr>
          <p:cNvPr id="10" name="Text 5"/>
          <p:cNvSpPr/>
          <p:nvPr/>
        </p:nvSpPr>
        <p:spPr>
          <a:xfrm>
            <a:off x="831829" y="1779885"/>
            <a:ext cx="5206175"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NOAA Climate Prediction Center</a:t>
            </a:r>
            <a:endParaRPr lang="en-US" sz="1300" dirty="0"/>
          </a:p>
        </p:txBody>
      </p:sp>
      <p:sp>
        <p:nvSpPr>
          <p:cNvPr id="11" name="Text 6"/>
          <p:cNvSpPr/>
          <p:nvPr/>
        </p:nvSpPr>
        <p:spPr>
          <a:xfrm>
            <a:off x="831829" y="2042120"/>
            <a:ext cx="5206175"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Oceanic Niño Index (ONI v5)</a:t>
            </a:r>
            <a:endParaRPr lang="en-US" sz="10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34641" y="1760835"/>
            <a:ext cx="5395579" cy="480318"/>
          </a:xfrm>
          <a:prstGeom prst="rect">
            <a:avLst/>
          </a:prstGeom>
        </p:spPr>
      </p:pic>
      <p:sp>
        <p:nvSpPr>
          <p:cNvPr id="13" name="Text 7"/>
          <p:cNvSpPr/>
          <p:nvPr/>
        </p:nvSpPr>
        <p:spPr>
          <a:xfrm>
            <a:off x="6324045" y="1779885"/>
            <a:ext cx="5206175"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WHO/UNICEF Joint Monitoring Programme</a:t>
            </a:r>
            <a:endParaRPr lang="en-US" sz="1300" dirty="0"/>
          </a:p>
        </p:txBody>
      </p:sp>
      <p:sp>
        <p:nvSpPr>
          <p:cNvPr id="14" name="Text 8"/>
          <p:cNvSpPr/>
          <p:nvPr/>
        </p:nvSpPr>
        <p:spPr>
          <a:xfrm>
            <a:off x="6324045" y="2042120"/>
            <a:ext cx="5206175"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Water Supply, Sanitation and Hygiene, 2025 update</a:t>
            </a:r>
            <a:endParaRPr lang="en-US" sz="10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2425" y="2388295"/>
            <a:ext cx="5395579" cy="480318"/>
          </a:xfrm>
          <a:prstGeom prst="rect">
            <a:avLst/>
          </a:prstGeom>
        </p:spPr>
      </p:pic>
      <p:sp>
        <p:nvSpPr>
          <p:cNvPr id="16" name="Text 9"/>
          <p:cNvSpPr/>
          <p:nvPr/>
        </p:nvSpPr>
        <p:spPr>
          <a:xfrm>
            <a:off x="831829" y="2407345"/>
            <a:ext cx="5206175"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BPS-Statistics Indonesia</a:t>
            </a:r>
            <a:endParaRPr lang="en-US" sz="1300" dirty="0"/>
          </a:p>
        </p:txBody>
      </p:sp>
      <p:sp>
        <p:nvSpPr>
          <p:cNvPr id="17" name="Text 10"/>
          <p:cNvSpPr/>
          <p:nvPr/>
        </p:nvSpPr>
        <p:spPr>
          <a:xfrm>
            <a:off x="831829" y="2669580"/>
            <a:ext cx="5206175"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Provincial population, WebAPI</a:t>
            </a:r>
            <a:endParaRPr lang="en-US" sz="10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34641" y="2388295"/>
            <a:ext cx="5395579" cy="480318"/>
          </a:xfrm>
          <a:prstGeom prst="rect">
            <a:avLst/>
          </a:prstGeom>
        </p:spPr>
      </p:pic>
      <p:sp>
        <p:nvSpPr>
          <p:cNvPr id="19" name="Text 11"/>
          <p:cNvSpPr/>
          <p:nvPr/>
        </p:nvSpPr>
        <p:spPr>
          <a:xfrm>
            <a:off x="6324045" y="2407345"/>
            <a:ext cx="5206175"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European Commission JRC</a:t>
            </a:r>
            <a:endParaRPr lang="en-US" sz="1300" dirty="0"/>
          </a:p>
        </p:txBody>
      </p:sp>
      <p:sp>
        <p:nvSpPr>
          <p:cNvPr id="20" name="Text 12"/>
          <p:cNvSpPr/>
          <p:nvPr/>
        </p:nvSpPr>
        <p:spPr>
          <a:xfrm>
            <a:off x="6324045" y="2669580"/>
            <a:ext cx="5206175"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Global Human Settlement Layer (GHS-UCDB R2019A)</a:t>
            </a:r>
            <a:endParaRPr lang="en-US" sz="1000" dirty="0"/>
          </a:p>
        </p:txBody>
      </p:sp>
      <p:pic>
        <p:nvPicPr>
          <p:cNvPr id="2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2425" y="3015754"/>
            <a:ext cx="5395579" cy="480318"/>
          </a:xfrm>
          <a:prstGeom prst="rect">
            <a:avLst/>
          </a:prstGeom>
        </p:spPr>
      </p:pic>
      <p:sp>
        <p:nvSpPr>
          <p:cNvPr id="22" name="Text 13"/>
          <p:cNvSpPr/>
          <p:nvPr/>
        </p:nvSpPr>
        <p:spPr>
          <a:xfrm>
            <a:off x="831829" y="3034804"/>
            <a:ext cx="5206175"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SIPSN, Ministry of Environment and Forestry, Indonesia</a:t>
            </a:r>
            <a:endParaRPr lang="en-US" sz="1300" dirty="0"/>
          </a:p>
        </p:txBody>
      </p:sp>
      <p:pic>
        <p:nvPicPr>
          <p:cNvPr id="23"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34641" y="3015754"/>
            <a:ext cx="5395579" cy="480318"/>
          </a:xfrm>
          <a:prstGeom prst="rect">
            <a:avLst/>
          </a:prstGeom>
        </p:spPr>
      </p:pic>
      <p:sp>
        <p:nvSpPr>
          <p:cNvPr id="24" name="Text 14"/>
          <p:cNvSpPr/>
          <p:nvPr/>
        </p:nvSpPr>
        <p:spPr>
          <a:xfrm>
            <a:off x="6324045" y="3034804"/>
            <a:ext cx="5206175"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BNPB</a:t>
            </a:r>
            <a:endParaRPr lang="en-US" sz="1300" dirty="0"/>
          </a:p>
        </p:txBody>
      </p:sp>
      <p:sp>
        <p:nvSpPr>
          <p:cNvPr id="25" name="Text 15"/>
          <p:cNvSpPr/>
          <p:nvPr/>
        </p:nvSpPr>
        <p:spPr>
          <a:xfrm>
            <a:off x="6324045" y="3297039"/>
            <a:ext cx="5206175" cy="179983"/>
          </a:xfrm>
          <a:prstGeom prst="rect">
            <a:avLst/>
          </a:prstGeom>
          <a:noFill/>
          <a:ln/>
        </p:spPr>
        <p:txBody>
          <a:bodyPr wrap="none" lIns="0" tIns="0" rIns="0" bIns="0" rtlCol="0" anchor="t"/>
          <a:lstStyle/>
          <a:p>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Indonesian Disaster Data and Information (DIBI)</a:t>
            </a:r>
            <a:endParaRPr lang="en-US" sz="1000" dirty="0"/>
          </a:p>
        </p:txBody>
      </p:sp>
      <p:sp>
        <p:nvSpPr>
          <p:cNvPr id="26" name="Text 16"/>
          <p:cNvSpPr/>
          <p:nvPr/>
        </p:nvSpPr>
        <p:spPr>
          <a:xfrm>
            <a:off x="661475" y="3581202"/>
            <a:ext cx="10868745" cy="359966"/>
          </a:xfrm>
          <a:prstGeom prst="rect">
            <a:avLst/>
          </a:prstGeom>
          <a:noFill/>
          <a:ln/>
        </p:spPr>
        <p:txBody>
          <a:bodyPr wrap="square" lIns="0" tIns="0" rIns="0" bIns="0" rtlCol="0" anchor="t">
            <a:normAutofit/>
          </a:bodyPr>
          <a:lstStyle/>
          <a:p>
            <a:pPr algn="l" indent="0" marL="0">
              <a:lnSpc>
                <a:spcPct val="113000"/>
              </a:lnSpc>
              <a:buNone/>
            </a:pPr>
            <a:r>
              <a:rPr lang="en-US" sz="1000" b="1" dirty="0">
                <a:solidFill>
                  <a:srgbClr val="4C4C4D"/>
                </a:solidFill>
                <a:latin typeface="Heebo Bold" pitchFamily="34" charset="0"/>
                <a:ea typeface="Heebo Bold" pitchFamily="34" charset="-122"/>
                <a:cs typeface="Heebo Bold" pitchFamily="34" charset="-120"/>
              </a:rPr>
              <a:t>Method reference:</a:t>
            </a:r>
            <a:pPr algn="l" indent="0" marL="0">
              <a:lnSpc>
                <a:spcPct val="113000"/>
              </a:lnSpc>
              <a:buNone/>
            </a:pPr>
            <a:r>
              <a:rPr lang="en-US" sz="1000" dirty="0">
                <a:solidFill>
                  <a:srgbClr val="4C4C4D"/>
                </a:solidFill>
                <a:latin typeface="Heebo" pitchFamily="34" charset="0"/>
                <a:ea typeface="Heebo" pitchFamily="34" charset="-122"/>
                <a:cs typeface="Heebo" pitchFamily="34" charset="-120"/>
              </a:rPr>
              <a:t> Hussain-Alkhateeb L, et al. (2017). Early warning and response system (EWARS) for dengue outbreaks: operational guide. WHO/TDR technical document — no DOI assigned; the peer-reviewed description is Hussain-Alkhateeb 2018 on the next page.</a:t>
            </a:r>
            <a:endParaRPr lang="en-US" sz="1000" dirty="0"/>
          </a:p>
        </p:txBody>
      </p:sp>
      <p:sp>
        <p:nvSpPr>
          <p:cNvPr id="27" name="Text 17"/>
          <p:cNvSpPr/>
          <p:nvPr/>
        </p:nvSpPr>
        <p:spPr>
          <a:xfrm>
            <a:off x="661475" y="4080073"/>
            <a:ext cx="10868745" cy="206673"/>
          </a:xfrm>
          <a:prstGeom prst="rect">
            <a:avLst/>
          </a:prstGeom>
          <a:noFill/>
          <a:ln/>
        </p:spPr>
        <p:txBody>
          <a:bodyPr wrap="none" lIns="0" tIns="0" rIns="0" bIns="0" rtlCol="0" anchor="t"/>
          <a:lstStyle/>
          <a:p>
            <a:pPr algn="l" indent="0" marL="0">
              <a:lnSpc>
                <a:spcPct val="104000"/>
              </a:lnSpc>
              <a:buNone/>
            </a:pPr>
            <a:r>
              <a:rPr lang="en-US" sz="1300" dirty="0">
                <a:solidFill>
                  <a:srgbClr val="152D47"/>
                </a:solidFill>
                <a:latin typeface="Crimson Pro SemiBold" pitchFamily="34" charset="0"/>
                <a:ea typeface="Crimson Pro SemiBold" pitchFamily="34" charset="-122"/>
                <a:cs typeface="Crimson Pro SemiBold" pitchFamily="34" charset="-120"/>
              </a:rPr>
              <a:t>Climate and dengue</a:t>
            </a:r>
            <a:endParaRPr lang="en-US" sz="1300" dirty="0"/>
          </a:p>
        </p:txBody>
      </p:sp>
      <p:sp>
        <p:nvSpPr>
          <p:cNvPr id="28" name="Text 18"/>
          <p:cNvSpPr/>
          <p:nvPr/>
        </p:nvSpPr>
        <p:spPr>
          <a:xfrm>
            <a:off x="661475" y="4425652"/>
            <a:ext cx="10868745" cy="1878608"/>
          </a:xfrm>
          <a:prstGeom prst="rect">
            <a:avLst/>
          </a:prstGeom>
          <a:noFill/>
          <a:ln/>
        </p:spPr>
        <p:txBody>
          <a:bodyPr wrap="square" lIns="0" tIns="0" rIns="0" bIns="0" rtlCol="0" anchor="t">
            <a:normAutofit/>
          </a:bodyPr>
          <a:lstStyle/>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Tian Y, et al. (2025) Nat Commun doi:10.1038/s41467-025-63655-0</a:t>
            </a:r>
            <a:endParaRPr lang="en-US" sz="1000" dirty="0"/>
          </a:p>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Djaafara B, et al. (2026) PLOS Negl Trop Dis doi:10.1371/journal.pntd.0014135</a:t>
            </a:r>
            <a:endParaRPr lang="en-US" sz="1000" dirty="0"/>
          </a:p>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Mokhtar S, et al. (2024) Environ Res doi:10.1016/j.envres.2024.119830</a:t>
            </a:r>
            <a:endParaRPr lang="en-US" sz="1000" dirty="0"/>
          </a:p>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Sutriyawan A, et al. (2025) J Popul Soc Stud doi:10.25133/jpssv342026.028</a:t>
            </a:r>
            <a:endParaRPr lang="en-US" sz="1000" dirty="0"/>
          </a:p>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Lowe R, et al. (2021) Lancet Planet Health doi:10.1016/S2542-5196(20)30292-8</a:t>
            </a:r>
            <a:endParaRPr lang="en-US" sz="1000" dirty="0"/>
          </a:p>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Gibb R, et al. (2023) Nat Commun doi:10.1038/s41467-023-43954-0</a:t>
            </a:r>
            <a:endParaRPr lang="en-US" sz="1000" dirty="0"/>
          </a:p>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Wang Y, et al. (2022) Environ Int doi:10.1016/j.envint.2022.107518</a:t>
            </a:r>
            <a:endParaRPr lang="en-US" sz="1000" dirty="0"/>
          </a:p>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Choi Y, et al. (2016) BMC Public Health doi:10.1186/s12889-016-2923-2</a:t>
            </a:r>
            <a:endParaRPr lang="en-US" sz="1000" dirty="0"/>
          </a:p>
          <a:p>
            <a:pPr algn="l" marL="203200" indent="-203200">
              <a:lnSpc>
                <a:spcPct val="113000"/>
              </a:lnSpc>
              <a:buSzPct val="100000"/>
              <a:buChar char="•"/>
            </a:pPr>
            <a:r>
              <a:rPr lang="en-US" sz="1000" dirty="0">
                <a:solidFill>
                  <a:srgbClr val="4C4C4D"/>
                </a:solidFill>
                <a:latin typeface="Heebo" pitchFamily="34" charset="0"/>
                <a:ea typeface="Heebo" pitchFamily="34" charset="-122"/>
                <a:cs typeface="Heebo" pitchFamily="34" charset="-120"/>
              </a:rPr>
              <a:t>Polrob P, et al. (2025) BMC Public Health doi:10.1186/s12889-025-25420-2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1475" y="562074"/>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152D47"/>
                </a:solidFill>
                <a:latin typeface="Crimson Pro SemiBold" pitchFamily="34" charset="0"/>
                <a:ea typeface="Crimson Pro SemiBold" pitchFamily="34" charset="-122"/>
                <a:cs typeface="Crimson Pro SemiBold" pitchFamily="34" charset="-120"/>
              </a:rPr>
              <a:t>References 2/2: Early-warning systems, cost, and validation</a:t>
            </a:r>
            <a:endParaRPr lang="en-US" sz="3150" dirty="0"/>
          </a:p>
        </p:txBody>
      </p:sp>
      <p:sp>
        <p:nvSpPr>
          <p:cNvPr id="3" name="Text 1"/>
          <p:cNvSpPr/>
          <p:nvPr/>
        </p:nvSpPr>
        <p:spPr>
          <a:xfrm>
            <a:off x="661475" y="1118691"/>
            <a:ext cx="10868745" cy="251023"/>
          </a:xfrm>
          <a:prstGeom prst="rect">
            <a:avLst/>
          </a:prstGeom>
          <a:noFill/>
          <a:ln/>
        </p:spPr>
        <p:txBody>
          <a:bodyPr wrap="none" lIns="0" tIns="0" rIns="0" bIns="0" rtlCol="0" anchor="t"/>
          <a:lstStyle/>
          <a:p>
            <a:pPr algn="l" indent="0" marL="0">
              <a:lnSpc>
                <a:spcPct val="104000"/>
              </a:lnSpc>
              <a:buNone/>
            </a:pPr>
            <a:r>
              <a:rPr lang="en-US" sz="1550" dirty="0">
                <a:solidFill>
                  <a:srgbClr val="152D47"/>
                </a:solidFill>
                <a:latin typeface="Crimson Pro SemiBold" pitchFamily="34" charset="0"/>
                <a:ea typeface="Crimson Pro SemiBold" pitchFamily="34" charset="-122"/>
                <a:cs typeface="Crimson Pro SemiBold" pitchFamily="34" charset="-120"/>
              </a:rPr>
              <a:t>Early-warning systems</a:t>
            </a:r>
            <a:endParaRPr lang="en-US" sz="1550" dirty="0"/>
          </a:p>
        </p:txBody>
      </p:sp>
      <p:sp>
        <p:nvSpPr>
          <p:cNvPr id="4" name="Text 2"/>
          <p:cNvSpPr/>
          <p:nvPr/>
        </p:nvSpPr>
        <p:spPr>
          <a:xfrm>
            <a:off x="661475" y="1574502"/>
            <a:ext cx="10868745" cy="1664990"/>
          </a:xfrm>
          <a:prstGeom prst="rect">
            <a:avLst/>
          </a:prstGeom>
          <a:noFill/>
          <a:ln/>
        </p:spPr>
        <p:txBody>
          <a:bodyPr wrap="square" lIns="0" tIns="0" rIns="0" bIns="0" rtlCol="0" anchor="t">
            <a:normAutofit/>
          </a:bodyPr>
          <a:lstStyle/>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Hussain-Alkhateeb L, et al. (2018) PLOS ONE doi:10.1371/journal.pone.0196811</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Baharom M, et al. (2022) Risk Manag Healthc Policy doi:10.2147/RMHP.S361106</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Benitez-Valladares D, et al. (2021) PLOS Negl Trop Dis doi:10.1371/journal.pntd.0009261</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Cárdenas R, et al. (2022) BMC Infect Dis doi:10.1186/s12879-022-07197-6</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Schlesinger P, et al. (2024) Front Public Health doi:10.3389/fpubh.2024.1323618</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Quan TM, et al. (2026) Sci One Health doi:10.1016/j.soh.2026.100159</a:t>
            </a:r>
            <a:endParaRPr lang="en-US" sz="1250" dirty="0"/>
          </a:p>
        </p:txBody>
      </p:sp>
      <p:sp>
        <p:nvSpPr>
          <p:cNvPr id="5" name="Text 3"/>
          <p:cNvSpPr/>
          <p:nvPr/>
        </p:nvSpPr>
        <p:spPr>
          <a:xfrm>
            <a:off x="661475" y="3444280"/>
            <a:ext cx="10868745" cy="251023"/>
          </a:xfrm>
          <a:prstGeom prst="rect">
            <a:avLst/>
          </a:prstGeom>
          <a:noFill/>
          <a:ln/>
        </p:spPr>
        <p:txBody>
          <a:bodyPr wrap="none" lIns="0" tIns="0" rIns="0" bIns="0" rtlCol="0" anchor="t"/>
          <a:lstStyle/>
          <a:p>
            <a:pPr algn="l" indent="0" marL="0">
              <a:lnSpc>
                <a:spcPct val="104000"/>
              </a:lnSpc>
              <a:buNone/>
            </a:pPr>
            <a:r>
              <a:rPr lang="en-US" sz="1550" dirty="0">
                <a:solidFill>
                  <a:srgbClr val="152D47"/>
                </a:solidFill>
                <a:latin typeface="Crimson Pro SemiBold" pitchFamily="34" charset="0"/>
                <a:ea typeface="Crimson Pro SemiBold" pitchFamily="34" charset="-122"/>
                <a:cs typeface="Crimson Pro SemiBold" pitchFamily="34" charset="-120"/>
              </a:rPr>
              <a:t>Burden, cost, and validation</a:t>
            </a:r>
            <a:endParaRPr lang="en-US" sz="1550" dirty="0"/>
          </a:p>
        </p:txBody>
      </p:sp>
      <p:sp>
        <p:nvSpPr>
          <p:cNvPr id="6" name="Text 4"/>
          <p:cNvSpPr/>
          <p:nvPr/>
        </p:nvSpPr>
        <p:spPr>
          <a:xfrm>
            <a:off x="661475" y="3900091"/>
            <a:ext cx="10868745" cy="1664990"/>
          </a:xfrm>
          <a:prstGeom prst="rect">
            <a:avLst/>
          </a:prstGeom>
          <a:noFill/>
          <a:ln/>
        </p:spPr>
        <p:txBody>
          <a:bodyPr wrap="square" lIns="0" tIns="0" rIns="0" bIns="0" rtlCol="0" anchor="t">
            <a:normAutofit/>
          </a:bodyPr>
          <a:lstStyle/>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Nadjib M, et al. (2019) PLOS Negl Trop Dis doi:10.1371/journal.pntd.0007038</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Wilastonegoro NN, et al. (2020) Am J Trop Med Hyg doi:10.4269/ajtmh.19-0855</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Shepard DS, et al. (2013) PLOS Negl Trop Dis doi:10.1371/journal.pntd.0002055</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Shepard DS, et al. (2016) Lancet Infect Dis doi:10.1016/S1473-3099(16)00146-8</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Sasmono RT, et al. (2026) IJID Regions doi:10.1016/j.ijregi.2026.100860</a:t>
            </a:r>
            <a:endParaRPr lang="en-US" sz="1250" dirty="0"/>
          </a:p>
          <a:p>
            <a:pPr algn="l" marL="254000" indent="-254000">
              <a:lnSpc>
                <a:spcPct val="123000"/>
              </a:lnSpc>
              <a:buSzPct val="100000"/>
              <a:buChar char="•"/>
            </a:pPr>
            <a:r>
              <a:rPr lang="en-US" sz="1250" dirty="0">
                <a:solidFill>
                  <a:srgbClr val="4C4C4D"/>
                </a:solidFill>
                <a:latin typeface="Heebo" pitchFamily="34" charset="0"/>
                <a:ea typeface="Heebo" pitchFamily="34" charset="-122"/>
                <a:cs typeface="Heebo" pitchFamily="34" charset="-120"/>
              </a:rPr>
              <a:t>Childs ML, et al. (2025) PNAS doi:10.1073/pnas.2512350122</a:t>
            </a:r>
            <a:endParaRPr lang="en-US" sz="1250" dirty="0"/>
          </a:p>
        </p:txBody>
      </p:sp>
      <p:sp>
        <p:nvSpPr>
          <p:cNvPr id="7" name="Shape 5"/>
          <p:cNvSpPr/>
          <p:nvPr/>
        </p:nvSpPr>
        <p:spPr>
          <a:xfrm>
            <a:off x="661475" y="5718671"/>
            <a:ext cx="10868745" cy="577255"/>
          </a:xfrm>
          <a:prstGeom prst="roundRect">
            <a:avLst>
              <a:gd name="adj" fmla="val 4175"/>
            </a:avLst>
          </a:prstGeom>
          <a:solidFill>
            <a:srgbClr val="CCD7FF"/>
          </a:solidFill>
          <a:ln/>
        </p:spPr>
      </p:sp>
      <p:pic>
        <p:nvPicPr>
          <p:cNvPr id="8" name="Image 0" descr="preencoded.png">    </p:cNvPr>
          <p:cNvPicPr>
            <a:picLocks noChangeAspect="1"/>
          </p:cNvPicPr>
          <p:nvPr/>
        </p:nvPicPr>
        <p:blipFill>
          <a:blip r:embed="rId1"/>
          <a:stretch>
            <a:fillRect/>
          </a:stretch>
        </p:blipFill>
        <p:spPr>
          <a:xfrm>
            <a:off x="822106" y="5913438"/>
            <a:ext cx="200814" cy="160635"/>
          </a:xfrm>
          <a:prstGeom prst="rect">
            <a:avLst/>
          </a:prstGeom>
        </p:spPr>
      </p:pic>
      <p:sp>
        <p:nvSpPr>
          <p:cNvPr id="9" name="Text 6"/>
          <p:cNvSpPr/>
          <p:nvPr/>
        </p:nvSpPr>
        <p:spPr>
          <a:xfrm>
            <a:off x="1183551" y="5895280"/>
            <a:ext cx="10795623" cy="237728"/>
          </a:xfrm>
          <a:prstGeom prst="rect">
            <a:avLst/>
          </a:prstGeom>
          <a:noFill/>
          <a:ln/>
        </p:spPr>
        <p:txBody>
          <a:bodyPr wrap="none" lIns="0" tIns="0" rIns="0" bIns="0" rtlCol="0" anchor="t"/>
          <a:lstStyle/>
          <a:p>
            <a:pPr algn="l" indent="0" marL="0">
              <a:lnSpc>
                <a:spcPct val="123000"/>
              </a:lnSpc>
              <a:buNone/>
            </a:pPr>
            <a:r>
              <a:rPr lang="en-US" sz="1250" dirty="0">
                <a:solidFill>
                  <a:srgbClr val="000000"/>
                </a:solidFill>
                <a:latin typeface="Heebo" pitchFamily="34" charset="0"/>
                <a:ea typeface="Heebo" pitchFamily="34" charset="-122"/>
                <a:cs typeface="Heebo" pitchFamily="34" charset="-120"/>
              </a:rPr>
              <a:t>Reference pages — excluded from the 15-page limit per the official storyboard requirements. Every DOI was resolved against Crossref.</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2026-10-06T12:39:10Z</dcterms:created>
  <dcterms:modified xsi:type="dcterms:W3CDTF">2026-10-06T12:39:10Z</dcterms:modified>
</cp:coreProperties>
</file>